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706" y="3769518"/>
            <a:ext cx="20080605" cy="1170305"/>
          </a:xfrm>
          <a:custGeom>
            <a:avLst/>
            <a:gdLst/>
            <a:ahLst/>
            <a:cxnLst/>
            <a:rect l="l" t="t" r="r" b="b"/>
            <a:pathLst>
              <a:path w="20080605" h="1170304">
                <a:moveTo>
                  <a:pt x="20080541" y="1170121"/>
                </a:moveTo>
                <a:lnTo>
                  <a:pt x="0" y="117012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170121"/>
                </a:lnTo>
                <a:close/>
              </a:path>
            </a:pathLst>
          </a:custGeom>
          <a:solidFill>
            <a:srgbClr val="050A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79910" y="3311805"/>
            <a:ext cx="13591633" cy="23605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E2E2E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E2E2E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25568" y="0"/>
            <a:ext cx="78531" cy="4711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4177883" cy="4711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06" y="0"/>
            <a:ext cx="20088393" cy="4711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5706" y="1177974"/>
            <a:ext cx="20080605" cy="715010"/>
          </a:xfrm>
          <a:custGeom>
            <a:avLst/>
            <a:gdLst/>
            <a:ahLst/>
            <a:cxnLst/>
            <a:rect l="l" t="t" r="r" b="b"/>
            <a:pathLst>
              <a:path w="20080605" h="715010">
                <a:moveTo>
                  <a:pt x="20080541" y="714637"/>
                </a:moveTo>
                <a:lnTo>
                  <a:pt x="0" y="71463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14637"/>
                </a:lnTo>
                <a:close/>
              </a:path>
            </a:pathLst>
          </a:custGeom>
          <a:solidFill>
            <a:srgbClr val="070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5216" y="906774"/>
            <a:ext cx="18233666" cy="948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49514" y="1882529"/>
            <a:ext cx="13689965" cy="6609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E2E2E2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pn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png"/><Relationship Id="rId10" Type="http://schemas.openxmlformats.org/officeDocument/2006/relationships/image" Target="../media/image36.jpg"/><Relationship Id="rId11" Type="http://schemas.openxmlformats.org/officeDocument/2006/relationships/image" Target="../media/image37.jpg"/><Relationship Id="rId12" Type="http://schemas.openxmlformats.org/officeDocument/2006/relationships/image" Target="../media/image3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706" y="4507716"/>
            <a:ext cx="20088860" cy="1225550"/>
            <a:chOff x="15706" y="4507716"/>
            <a:chExt cx="20088860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4507716"/>
              <a:ext cx="20088393" cy="122509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575837" y="4515569"/>
              <a:ext cx="8952865" cy="1193800"/>
            </a:xfrm>
            <a:custGeom>
              <a:avLst/>
              <a:gdLst/>
              <a:ahLst/>
              <a:cxnLst/>
              <a:rect l="l" t="t" r="r" b="b"/>
              <a:pathLst>
                <a:path w="8952865" h="1193800">
                  <a:moveTo>
                    <a:pt x="8952607" y="1193681"/>
                  </a:moveTo>
                  <a:lnTo>
                    <a:pt x="0" y="1193681"/>
                  </a:lnTo>
                  <a:lnTo>
                    <a:pt x="0" y="0"/>
                  </a:lnTo>
                  <a:lnTo>
                    <a:pt x="8952607" y="0"/>
                  </a:lnTo>
                  <a:lnTo>
                    <a:pt x="8952607" y="1193681"/>
                  </a:lnTo>
                  <a:close/>
                </a:path>
              </a:pathLst>
            </a:custGeom>
            <a:solidFill>
              <a:srgbClr val="080E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5433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800" spc="-140"/>
              <a:t>Bèi</a:t>
            </a:r>
            <a:r>
              <a:rPr dirty="0" sz="9800" spc="-520"/>
              <a:t> </a:t>
            </a:r>
            <a:r>
              <a:rPr dirty="0" sz="9800" spc="229"/>
              <a:t>toón</a:t>
            </a:r>
            <a:r>
              <a:rPr dirty="0" sz="9800" spc="-580"/>
              <a:t> </a:t>
            </a:r>
            <a:r>
              <a:rPr dirty="0" sz="9800" spc="210"/>
              <a:t>quàn</a:t>
            </a:r>
            <a:r>
              <a:rPr dirty="0" sz="9800" spc="-445"/>
              <a:t> </a:t>
            </a:r>
            <a:r>
              <a:rPr dirty="0" sz="9800" spc="220"/>
              <a:t>lÿ</a:t>
            </a:r>
            <a:endParaRPr sz="9800"/>
          </a:p>
        </p:txBody>
      </p:sp>
      <p:sp>
        <p:nvSpPr>
          <p:cNvPr id="6" name="object 6" descr=""/>
          <p:cNvSpPr/>
          <p:nvPr/>
        </p:nvSpPr>
        <p:spPr>
          <a:xfrm>
            <a:off x="15706" y="6392475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931966" y="6356870"/>
            <a:ext cx="1217104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DFDFDF"/>
                </a:solidFill>
                <a:latin typeface="Arial MT"/>
                <a:cs typeface="Arial MT"/>
              </a:rPr>
              <a:t>Phán</a:t>
            </a:r>
            <a:r>
              <a:rPr dirty="0" sz="2950" spc="18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 spc="90">
                <a:solidFill>
                  <a:srgbClr val="DFDFDF"/>
                </a:solidFill>
                <a:latin typeface="Arial MT"/>
                <a:cs typeface="Arial MT"/>
              </a:rPr>
              <a:t>tích</a:t>
            </a:r>
            <a:r>
              <a:rPr dirty="0" sz="2950" spc="1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E1E1E1"/>
                </a:solidFill>
                <a:latin typeface="Arial MT"/>
                <a:cs typeface="Arial MT"/>
              </a:rPr>
              <a:t>&amp;</a:t>
            </a:r>
            <a:r>
              <a:rPr dirty="0" sz="2950" spc="229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DDDDD"/>
                </a:solidFill>
                <a:latin typeface="Arial MT"/>
                <a:cs typeface="Arial MT"/>
              </a:rPr>
              <a:t>Thiet</a:t>
            </a:r>
            <a:r>
              <a:rPr dirty="0" sz="2950" spc="33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FDFDF"/>
                </a:solidFill>
                <a:latin typeface="Arial MT"/>
                <a:cs typeface="Arial MT"/>
              </a:rPr>
              <a:t>ke</a:t>
            </a:r>
            <a:r>
              <a:rPr dirty="0" sz="2950" spc="19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FDFDF"/>
                </a:solidFill>
                <a:latin typeface="Arial MT"/>
                <a:cs typeface="Arial MT"/>
              </a:rPr>
              <a:t>He</a:t>
            </a:r>
            <a:r>
              <a:rPr dirty="0" sz="2950" spc="19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950" spc="80">
                <a:solidFill>
                  <a:srgbClr val="E1E1E1"/>
                </a:solidFill>
                <a:latin typeface="Arial MT"/>
                <a:cs typeface="Arial MT"/>
              </a:rPr>
              <a:t>thöng</a:t>
            </a:r>
            <a:r>
              <a:rPr dirty="0" sz="2950" spc="27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E4E4E4"/>
                </a:solidFill>
                <a:latin typeface="Arial MT"/>
                <a:cs typeface="Arial MT"/>
              </a:rPr>
              <a:t>Cau</a:t>
            </a:r>
            <a:r>
              <a:rPr dirty="0" sz="2950" spc="16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950" spc="85">
                <a:solidFill>
                  <a:srgbClr val="E1E1E1"/>
                </a:solidFill>
                <a:latin typeface="Arial MT"/>
                <a:cs typeface="Arial MT"/>
              </a:rPr>
              <a:t>trúc</a:t>
            </a:r>
            <a:r>
              <a:rPr dirty="0" sz="2950" spc="42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 spc="110">
                <a:solidFill>
                  <a:srgbClr val="E4E4E4"/>
                </a:solidFill>
                <a:latin typeface="Arial MT"/>
                <a:cs typeface="Arial MT"/>
              </a:rPr>
              <a:t>dù</a:t>
            </a:r>
            <a:r>
              <a:rPr dirty="0" sz="2950" spc="21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950" spc="50">
                <a:solidFill>
                  <a:srgbClr val="E4E4E4"/>
                </a:solidFill>
                <a:latin typeface="Arial MT"/>
                <a:cs typeface="Arial MT"/>
              </a:rPr>
              <a:t>liéu</a:t>
            </a:r>
            <a:r>
              <a:rPr dirty="0" sz="2950" spc="2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950" spc="-75">
                <a:solidFill>
                  <a:srgbClr val="E1E1E1"/>
                </a:solidFill>
                <a:latin typeface="Arial MT"/>
                <a:cs typeface="Arial MT"/>
              </a:rPr>
              <a:t>(C</a:t>
            </a:r>
            <a:r>
              <a:rPr dirty="0" sz="2950" spc="-52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DDDDDD"/>
                </a:solidFill>
                <a:latin typeface="Arial MT"/>
                <a:cs typeface="Arial MT"/>
              </a:rPr>
              <a:t>onsole</a:t>
            </a:r>
            <a:r>
              <a:rPr dirty="0" sz="2950" spc="39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950" spc="45">
                <a:solidFill>
                  <a:srgbClr val="F0F0F0"/>
                </a:solidFill>
                <a:latin typeface="Arial MT"/>
                <a:cs typeface="Arial MT"/>
              </a:rPr>
              <a:t>Application)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3722399"/>
            <a:ext cx="20080605" cy="1217295"/>
          </a:xfrm>
          <a:custGeom>
            <a:avLst/>
            <a:gdLst/>
            <a:ahLst/>
            <a:cxnLst/>
            <a:rect l="l" t="t" r="r" b="b"/>
            <a:pathLst>
              <a:path w="20080605" h="1217295">
                <a:moveTo>
                  <a:pt x="20080541" y="1217240"/>
                </a:moveTo>
                <a:lnTo>
                  <a:pt x="0" y="121724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217240"/>
                </a:lnTo>
                <a:close/>
              </a:path>
            </a:pathLst>
          </a:custGeom>
          <a:solidFill>
            <a:srgbClr val="050A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9019" rIns="0" bIns="0" rtlCol="0" vert="horz">
            <a:spAutoFit/>
          </a:bodyPr>
          <a:lstStyle/>
          <a:p>
            <a:pPr marL="1514475">
              <a:lnSpc>
                <a:spcPct val="100000"/>
              </a:lnSpc>
              <a:spcBef>
                <a:spcPts val="90"/>
              </a:spcBef>
            </a:pPr>
            <a:r>
              <a:rPr dirty="0" sz="9800" spc="-1150"/>
              <a:t>J.</a:t>
            </a:r>
            <a:r>
              <a:rPr dirty="0" sz="9800" spc="-600"/>
              <a:t> </a:t>
            </a:r>
            <a:r>
              <a:rPr dirty="0" sz="9800" spc="-285"/>
              <a:t>Töng</a:t>
            </a:r>
            <a:r>
              <a:rPr dirty="0" sz="9800" spc="-385"/>
              <a:t> </a:t>
            </a:r>
            <a:r>
              <a:rPr dirty="0" sz="9800" spc="210"/>
              <a:t>quon</a:t>
            </a:r>
            <a:r>
              <a:rPr dirty="0" sz="9800" spc="-605"/>
              <a:t> </a:t>
            </a:r>
            <a:r>
              <a:rPr dirty="0" sz="9800" spc="-2700"/>
              <a:t>Hğ</a:t>
            </a:r>
            <a:r>
              <a:rPr dirty="0" sz="9800" spc="-840"/>
              <a:t> </a:t>
            </a:r>
            <a:r>
              <a:rPr dirty="0" sz="9800" spc="-340"/>
              <a:t>thÖng</a:t>
            </a:r>
            <a:endParaRPr sz="9800"/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5858460"/>
            <a:ext cx="20088860" cy="94615"/>
            <a:chOff x="15706" y="5858460"/>
            <a:chExt cx="20088860" cy="9461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5858460"/>
              <a:ext cx="20088393" cy="9423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5858460"/>
              <a:ext cx="20088393" cy="94237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5706" y="6895078"/>
            <a:ext cx="20080605" cy="479425"/>
          </a:xfrm>
          <a:custGeom>
            <a:avLst/>
            <a:gdLst/>
            <a:ahLst/>
            <a:cxnLst/>
            <a:rect l="l" t="t" r="r" b="b"/>
            <a:pathLst>
              <a:path w="20080605" h="479425">
                <a:moveTo>
                  <a:pt x="20080541" y="479043"/>
                </a:moveTo>
                <a:lnTo>
                  <a:pt x="0" y="47904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79043"/>
                </a:lnTo>
                <a:close/>
              </a:path>
            </a:pathLst>
          </a:custGeom>
          <a:solidFill>
            <a:srgbClr val="03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845601" y="6841803"/>
            <a:ext cx="841438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>
                <a:solidFill>
                  <a:srgbClr val="E2E2E2"/>
                </a:solidFill>
                <a:latin typeface="Arial MT"/>
                <a:cs typeface="Arial MT"/>
              </a:rPr>
              <a:t>Muc</a:t>
            </a:r>
            <a:r>
              <a:rPr dirty="0" sz="3350" spc="24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4E4E4"/>
                </a:solidFill>
                <a:latin typeface="Arial MT"/>
                <a:cs typeface="Arial MT"/>
              </a:rPr>
              <a:t>tiêu</a:t>
            </a:r>
            <a:r>
              <a:rPr dirty="0" sz="3350" spc="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DFDFDF"/>
                </a:solidFill>
                <a:latin typeface="Arial MT"/>
                <a:cs typeface="Arial MT"/>
              </a:rPr>
              <a:t>bài</a:t>
            </a:r>
            <a:r>
              <a:rPr dirty="0" sz="3350" spc="-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1E1E1"/>
                </a:solidFill>
                <a:latin typeface="Arial MT"/>
                <a:cs typeface="Arial MT"/>
              </a:rPr>
              <a:t>toán</a:t>
            </a:r>
            <a:r>
              <a:rPr dirty="0" sz="3350" spc="11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DADADA"/>
                </a:solidFill>
                <a:latin typeface="Arial MT"/>
                <a:cs typeface="Arial MT"/>
              </a:rPr>
              <a:t>và</a:t>
            </a:r>
            <a:r>
              <a:rPr dirty="0" sz="3350" spc="20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4E4E4"/>
                </a:solidFill>
                <a:latin typeface="Arial MT"/>
                <a:cs typeface="Arial MT"/>
              </a:rPr>
              <a:t>kien</a:t>
            </a:r>
            <a:r>
              <a:rPr dirty="0" sz="3350" spc="2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350" spc="55">
                <a:solidFill>
                  <a:srgbClr val="E2E2E2"/>
                </a:solidFill>
                <a:latin typeface="Arial MT"/>
                <a:cs typeface="Arial MT"/>
              </a:rPr>
              <a:t>trúc</a:t>
            </a:r>
            <a:r>
              <a:rPr dirty="0" sz="3350" spc="13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D6D6D6"/>
                </a:solidFill>
                <a:latin typeface="Arial MT"/>
                <a:cs typeface="Arial MT"/>
              </a:rPr>
              <a:t>I</a:t>
            </a:r>
            <a:r>
              <a:rPr dirty="0" sz="3350">
                <a:solidFill>
                  <a:srgbClr val="E2E2E2"/>
                </a:solidFill>
                <a:latin typeface="Arial MT"/>
                <a:cs typeface="Arial MT"/>
              </a:rPr>
              <a:t>flu</a:t>
            </a:r>
            <a:r>
              <a:rPr dirty="0" sz="3350" spc="-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DDDDDD"/>
                </a:solidFill>
                <a:latin typeface="Arial MT"/>
                <a:cs typeface="Arial MT"/>
              </a:rPr>
              <a:t>trú</a:t>
            </a:r>
            <a:r>
              <a:rPr dirty="0" sz="3350" spc="36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350" spc="145">
                <a:solidFill>
                  <a:srgbClr val="DFDFDF"/>
                </a:solidFill>
                <a:latin typeface="Arial MT"/>
                <a:cs typeface="Arial MT"/>
              </a:rPr>
              <a:t>dú</a:t>
            </a:r>
            <a:r>
              <a:rPr dirty="0" sz="3350" spc="-1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350" spc="-20">
                <a:solidFill>
                  <a:srgbClr val="E2E2E2"/>
                </a:solidFill>
                <a:latin typeface="Arial MT"/>
                <a:cs typeface="Arial MT"/>
              </a:rPr>
              <a:t>liêu</a:t>
            </a:r>
            <a:endParaRPr sz="3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115149"/>
            <a:ext cx="20080605" cy="605155"/>
          </a:xfrm>
          <a:custGeom>
            <a:avLst/>
            <a:gdLst/>
            <a:ahLst/>
            <a:cxnLst/>
            <a:rect l="l" t="t" r="r" b="b"/>
            <a:pathLst>
              <a:path w="20080605" h="605155">
                <a:moveTo>
                  <a:pt x="20080541" y="604693"/>
                </a:moveTo>
                <a:lnTo>
                  <a:pt x="0" y="60469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04693"/>
                </a:lnTo>
                <a:close/>
              </a:path>
            </a:pathLst>
          </a:custGeom>
          <a:solidFill>
            <a:srgbClr val="070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6300" spc="-100">
                <a:latin typeface="Calibri"/>
                <a:cs typeface="Calibri"/>
              </a:rPr>
              <a:t>Mô</a:t>
            </a:r>
            <a:r>
              <a:rPr dirty="0" sz="6300" spc="-185">
                <a:latin typeface="Calibri"/>
                <a:cs typeface="Calibri"/>
              </a:rPr>
              <a:t> </a:t>
            </a:r>
            <a:r>
              <a:rPr dirty="0" sz="6300" spc="229">
                <a:latin typeface="Calibri"/>
                <a:cs typeface="Calibri"/>
              </a:rPr>
              <a:t>tà</a:t>
            </a:r>
            <a:r>
              <a:rPr dirty="0" sz="6300" spc="-840">
                <a:latin typeface="Calibri"/>
                <a:cs typeface="Calibri"/>
              </a:rPr>
              <a:t> </a:t>
            </a:r>
            <a:r>
              <a:rPr dirty="0" sz="6300" spc="229">
                <a:latin typeface="Calibri"/>
                <a:cs typeface="Calibri"/>
              </a:rPr>
              <a:t>Bài</a:t>
            </a:r>
            <a:r>
              <a:rPr dirty="0" sz="6300" spc="-145">
                <a:latin typeface="Calibri"/>
                <a:cs typeface="Calibri"/>
              </a:rPr>
              <a:t> </a:t>
            </a:r>
            <a:r>
              <a:rPr dirty="0" sz="6300" spc="125">
                <a:latin typeface="Calibri"/>
                <a:cs typeface="Calibri"/>
              </a:rPr>
              <a:t>toón</a:t>
            </a:r>
            <a:endParaRPr sz="63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4005113"/>
            <a:ext cx="20088860" cy="534035"/>
            <a:chOff x="15706" y="4005113"/>
            <a:chExt cx="20088860" cy="5340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71290" y="4005113"/>
              <a:ext cx="4209295" cy="53401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7346" y="4005113"/>
              <a:ext cx="4209295" cy="53401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4815" y="4005113"/>
              <a:ext cx="4209295" cy="53401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4005113"/>
              <a:ext cx="20088393" cy="534015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15706" y="5277326"/>
            <a:ext cx="20080605" cy="542290"/>
            <a:chOff x="15706" y="5277326"/>
            <a:chExt cx="20080605" cy="542290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0283" y="5340151"/>
              <a:ext cx="1562779" cy="39265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5706" y="5277326"/>
              <a:ext cx="20080605" cy="542290"/>
            </a:xfrm>
            <a:custGeom>
              <a:avLst/>
              <a:gdLst/>
              <a:ahLst/>
              <a:cxnLst/>
              <a:rect l="l" t="t" r="r" b="b"/>
              <a:pathLst>
                <a:path w="20080605" h="542289">
                  <a:moveTo>
                    <a:pt x="20080541" y="541868"/>
                  </a:moveTo>
                  <a:lnTo>
                    <a:pt x="0" y="541868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541868"/>
                  </a:lnTo>
                  <a:close/>
                </a:path>
              </a:pathLst>
            </a:custGeom>
            <a:solidFill>
              <a:srgbClr val="050A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565204" y="5190675"/>
            <a:ext cx="1928495" cy="594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57275" algn="l"/>
              </a:tabLst>
            </a:pPr>
            <a:r>
              <a:rPr dirty="0" sz="3700" spc="100">
                <a:solidFill>
                  <a:srgbClr val="FFFFFF"/>
                </a:solidFill>
                <a:latin typeface="Calibri"/>
                <a:cs typeface="Calibri"/>
              </a:rPr>
              <a:t>Mgc</a:t>
            </a:r>
            <a:r>
              <a:rPr dirty="0" sz="37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700" spc="195">
                <a:solidFill>
                  <a:srgbClr val="FFFFFF"/>
                </a:solidFill>
                <a:latin typeface="Calibri"/>
                <a:cs typeface="Calibri"/>
              </a:rPr>
              <a:t>tiêu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136141" y="5174314"/>
            <a:ext cx="2239010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-325">
                <a:solidFill>
                  <a:srgbClr val="FFFFFF"/>
                </a:solidFill>
                <a:latin typeface="Consolas"/>
                <a:cs typeface="Consolas"/>
              </a:rPr>
              <a:t>Ú'ng</a:t>
            </a:r>
            <a:r>
              <a:rPr dirty="0" sz="3850" spc="-97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3850" spc="120">
                <a:solidFill>
                  <a:srgbClr val="FFFFFF"/>
                </a:solidFill>
                <a:latin typeface="Consolas"/>
                <a:cs typeface="Consolas"/>
              </a:rPr>
              <a:t>dqng</a:t>
            </a:r>
            <a:endParaRPr sz="3850">
              <a:latin typeface="Consolas"/>
              <a:cs typeface="Consola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706" y="6471007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580055" y="6437365"/>
            <a:ext cx="426656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Xáy</a:t>
            </a:r>
            <a:r>
              <a:rPr dirty="0" sz="2550" spc="4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EBEBEB"/>
                </a:solidFill>
                <a:latin typeface="Arial MT"/>
                <a:cs typeface="Arial MT"/>
              </a:rPr>
              <a:t>du'ng</a:t>
            </a:r>
            <a:r>
              <a:rPr dirty="0" sz="2550" spc="10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8D8D8"/>
                </a:solidFill>
                <a:latin typeface="Arial MT"/>
                <a:cs typeface="Arial MT"/>
              </a:rPr>
              <a:t>phan</a:t>
            </a:r>
            <a:r>
              <a:rPr dirty="0" sz="2550" spc="10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mem</a:t>
            </a:r>
            <a:r>
              <a:rPr dirty="0" sz="2550" spc="13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quàn</a:t>
            </a:r>
            <a:r>
              <a:rPr dirty="0" sz="2550" spc="3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DFDFDF"/>
                </a:solidFill>
                <a:latin typeface="Arial MT"/>
                <a:cs typeface="Arial MT"/>
              </a:rPr>
              <a:t>Iy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65767" y="6453726"/>
            <a:ext cx="419798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55">
                <a:solidFill>
                  <a:srgbClr val="DDDDDD"/>
                </a:solidFill>
                <a:latin typeface="Arial MT"/>
                <a:cs typeface="Arial MT"/>
              </a:rPr>
              <a:t>Sú</a:t>
            </a:r>
            <a:r>
              <a:rPr dirty="0" sz="2450" spc="-2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E1E1E1"/>
                </a:solidFill>
                <a:latin typeface="Arial MT"/>
                <a:cs typeface="Arial MT"/>
              </a:rPr>
              <a:t>dung</a:t>
            </a:r>
            <a:r>
              <a:rPr dirty="0" sz="2450" spc="23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9E9E9"/>
                </a:solidFill>
                <a:latin typeface="Arial MT"/>
                <a:cs typeface="Arial MT"/>
              </a:rPr>
              <a:t>các</a:t>
            </a:r>
            <a:r>
              <a:rPr dirty="0" sz="2450" spc="225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6E6E6"/>
                </a:solidFill>
                <a:latin typeface="Arial MT"/>
                <a:cs typeface="Arial MT"/>
              </a:rPr>
              <a:t>CTDL</a:t>
            </a:r>
            <a:r>
              <a:rPr dirty="0" sz="2450" spc="20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DBDBDB"/>
                </a:solidFill>
                <a:latin typeface="Arial MT"/>
                <a:cs typeface="Arial MT"/>
              </a:rPr>
              <a:t>nen</a:t>
            </a:r>
            <a:r>
              <a:rPr dirty="0" sz="2450" spc="16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E9E9E9"/>
                </a:solidFill>
                <a:latin typeface="Arial MT"/>
                <a:cs typeface="Arial MT"/>
              </a:rPr>
              <a:t>tàng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146734" y="6437365"/>
            <a:ext cx="429895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EBEBEB"/>
                </a:solidFill>
                <a:latin typeface="Arial MT"/>
                <a:cs typeface="Arial MT"/>
              </a:rPr>
              <a:t>Toi</a:t>
            </a:r>
            <a:r>
              <a:rPr dirty="0" sz="2550" spc="3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Eu</a:t>
            </a:r>
            <a:r>
              <a:rPr dirty="0" sz="2550" spc="8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hóa</a:t>
            </a:r>
            <a:r>
              <a:rPr dirty="0" sz="2550" spc="1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quàn</a:t>
            </a:r>
            <a:r>
              <a:rPr dirty="0" sz="2550" spc="1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ly</a:t>
            </a:r>
            <a:r>
              <a:rPr dirty="0" sz="2550" spc="-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E8E8E8"/>
                </a:solidFill>
                <a:latin typeface="Arial MT"/>
                <a:cs typeface="Arial MT"/>
              </a:rPr>
              <a:t>thông</a:t>
            </a:r>
            <a:r>
              <a:rPr dirty="0" sz="2550" spc="7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DFDFDF"/>
                </a:solidFill>
                <a:latin typeface="Arial MT"/>
                <a:cs typeface="Arial MT"/>
              </a:rPr>
              <a:t>tin,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5706" y="6973609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5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578717" y="6956328"/>
            <a:ext cx="435102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DFDFDF"/>
                </a:solidFill>
                <a:latin typeface="Arial MT"/>
                <a:cs typeface="Arial MT"/>
              </a:rPr>
              <a:t>dan</a:t>
            </a:r>
            <a:r>
              <a:rPr dirty="0" sz="2450">
                <a:solidFill>
                  <a:srgbClr val="D6D6D6"/>
                </a:solidFill>
                <a:latin typeface="Arial MT"/>
                <a:cs typeface="Arial MT"/>
              </a:rPr>
              <a:t>h</a:t>
            </a:r>
            <a:r>
              <a:rPr dirty="0" sz="2450" spc="38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BEBEB"/>
                </a:solidFill>
                <a:latin typeface="Arial MT"/>
                <a:cs typeface="Arial MT"/>
              </a:rPr>
              <a:t>sách</a:t>
            </a:r>
            <a:r>
              <a:rPr dirty="0" sz="2450" spc="38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1E1E1"/>
                </a:solidFill>
                <a:latin typeface="Arial MT"/>
                <a:cs typeface="Arial MT"/>
              </a:rPr>
              <a:t>khách</a:t>
            </a:r>
            <a:r>
              <a:rPr dirty="0" sz="2450" spc="39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4E4E4"/>
                </a:solidFill>
                <a:latin typeface="Arial MT"/>
                <a:cs typeface="Arial MT"/>
              </a:rPr>
              <a:t>san</a:t>
            </a:r>
            <a:r>
              <a:rPr dirty="0" sz="2450" spc="3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450" spc="65">
                <a:solidFill>
                  <a:srgbClr val="DDDDDD"/>
                </a:solidFill>
                <a:latin typeface="Arial MT"/>
                <a:cs typeface="Arial MT"/>
              </a:rPr>
              <a:t>ch</a:t>
            </a:r>
            <a:r>
              <a:rPr dirty="0" sz="2450" spc="65">
                <a:solidFill>
                  <a:srgbClr val="E8E8E8"/>
                </a:solidFill>
                <a:latin typeface="Arial MT"/>
                <a:cs typeface="Arial MT"/>
              </a:rPr>
              <a:t>uyên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856508" y="6956328"/>
            <a:ext cx="353187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6910" algn="l"/>
              </a:tabLst>
            </a:pPr>
            <a:r>
              <a:rPr dirty="0" sz="2450" spc="75">
                <a:solidFill>
                  <a:srgbClr val="D6D6D6"/>
                </a:solidFill>
                <a:latin typeface="Calibri"/>
                <a:cs typeface="Calibri"/>
              </a:rPr>
              <a:t>n</a:t>
            </a:r>
            <a:r>
              <a:rPr dirty="0" sz="2450" spc="75">
                <a:solidFill>
                  <a:srgbClr val="DFDFDF"/>
                </a:solidFill>
                <a:latin typeface="Calibri"/>
                <a:cs typeface="Calibri"/>
              </a:rPr>
              <a:t>hü</a:t>
            </a:r>
            <a:r>
              <a:rPr dirty="0" sz="2450">
                <a:solidFill>
                  <a:srgbClr val="DFDFDF"/>
                </a:solidFill>
                <a:latin typeface="Calibri"/>
                <a:cs typeface="Calibri"/>
              </a:rPr>
              <a:t>	</a:t>
            </a:r>
            <a:r>
              <a:rPr dirty="0" sz="2450" spc="60">
                <a:solidFill>
                  <a:srgbClr val="E9E9E9"/>
                </a:solidFill>
                <a:latin typeface="Calibri"/>
                <a:cs typeface="Calibri"/>
              </a:rPr>
              <a:t>Dan</a:t>
            </a:r>
            <a:r>
              <a:rPr dirty="0" sz="2450" spc="-225">
                <a:solidFill>
                  <a:srgbClr val="E9E9E9"/>
                </a:solidFill>
                <a:latin typeface="Calibri"/>
                <a:cs typeface="Calibri"/>
              </a:rPr>
              <a:t> </a:t>
            </a:r>
            <a:r>
              <a:rPr dirty="0" sz="2450" spc="60">
                <a:solidFill>
                  <a:srgbClr val="D6D6D6"/>
                </a:solidFill>
                <a:latin typeface="Calibri"/>
                <a:cs typeface="Calibri"/>
              </a:rPr>
              <a:t>h</a:t>
            </a:r>
            <a:r>
              <a:rPr dirty="0" sz="2450" spc="405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dirty="0" sz="2450" spc="215">
                <a:solidFill>
                  <a:srgbClr val="E9E9E9"/>
                </a:solidFill>
                <a:latin typeface="Calibri"/>
                <a:cs typeface="Calibri"/>
              </a:rPr>
              <a:t>sách</a:t>
            </a:r>
            <a:r>
              <a:rPr dirty="0" sz="2450" spc="295">
                <a:solidFill>
                  <a:srgbClr val="E9E9E9"/>
                </a:solidFill>
                <a:latin typeface="Calibri"/>
                <a:cs typeface="Calibri"/>
              </a:rPr>
              <a:t> </a:t>
            </a:r>
            <a:r>
              <a:rPr dirty="0" sz="2450" spc="110">
                <a:solidFill>
                  <a:srgbClr val="E6E6E6"/>
                </a:solidFill>
                <a:latin typeface="Calibri"/>
                <a:cs typeface="Calibri"/>
              </a:rPr>
              <a:t>liên</a:t>
            </a:r>
            <a:r>
              <a:rPr dirty="0" sz="2450" spc="275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450" spc="114">
                <a:solidFill>
                  <a:srgbClr val="DDDDDD"/>
                </a:solidFill>
                <a:latin typeface="Calibri"/>
                <a:cs typeface="Calibri"/>
              </a:rPr>
              <a:t>ket,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141623" y="6939967"/>
            <a:ext cx="403288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chuan</a:t>
            </a:r>
            <a:r>
              <a:rPr dirty="0" sz="2550" spc="24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8E8E8"/>
                </a:solidFill>
                <a:latin typeface="Arial MT"/>
                <a:cs typeface="Arial MT"/>
              </a:rPr>
              <a:t>hóa</a:t>
            </a:r>
            <a:r>
              <a:rPr dirty="0" sz="2550" spc="229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8E8E8"/>
                </a:solidFill>
                <a:latin typeface="Arial MT"/>
                <a:cs typeface="Arial MT"/>
              </a:rPr>
              <a:t>nghiêm</a:t>
            </a:r>
            <a:r>
              <a:rPr dirty="0" sz="2550" spc="27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ngat</a:t>
            </a:r>
            <a:r>
              <a:rPr dirty="0" sz="2550" spc="28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 spc="95">
                <a:solidFill>
                  <a:srgbClr val="E2E2E2"/>
                </a:solidFill>
                <a:latin typeface="Arial MT"/>
                <a:cs typeface="Arial MT"/>
              </a:rPr>
              <a:t>dú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5706" y="7476211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5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578158" y="7442570"/>
            <a:ext cx="379158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dung</a:t>
            </a:r>
            <a:r>
              <a:rPr dirty="0" sz="2550" spc="1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d0dc</a:t>
            </a:r>
            <a:r>
              <a:rPr dirty="0" sz="2550" spc="24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van</a:t>
            </a:r>
            <a:r>
              <a:rPr dirty="0" sz="2550" spc="204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ADADA"/>
                </a:solidFill>
                <a:latin typeface="Arial MT"/>
                <a:cs typeface="Arial MT"/>
              </a:rPr>
              <a:t>hành</a:t>
            </a:r>
            <a:r>
              <a:rPr dirty="0" sz="2550" spc="24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E2E2E2"/>
                </a:solidFill>
                <a:latin typeface="Arial MT"/>
                <a:cs typeface="Arial MT"/>
              </a:rPr>
              <a:t>d0ói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839628" y="7450423"/>
            <a:ext cx="415353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EBEBEB"/>
                </a:solidFill>
                <a:latin typeface="Arial MT"/>
                <a:cs typeface="Arial MT"/>
              </a:rPr>
              <a:t>Stack,</a:t>
            </a:r>
            <a:r>
              <a:rPr dirty="0" sz="2550" spc="17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Queue</a:t>
            </a:r>
            <a:r>
              <a:rPr dirty="0" sz="2550" spc="17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hoac</a:t>
            </a:r>
            <a:r>
              <a:rPr dirty="0" sz="2550" spc="14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Cáy</a:t>
            </a:r>
            <a:r>
              <a:rPr dirty="0" sz="2550" spc="8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baseline="4357" sz="3825" spc="97">
                <a:solidFill>
                  <a:srgbClr val="E4E4E4"/>
                </a:solidFill>
                <a:latin typeface="Arial MT"/>
                <a:cs typeface="Arial MT"/>
              </a:rPr>
              <a:t>nh</a:t>
            </a:r>
            <a:r>
              <a:rPr dirty="0" baseline="-6535" sz="3825" spc="97">
                <a:solidFill>
                  <a:srgbClr val="E4E4E4"/>
                </a:solidFill>
                <a:latin typeface="Arial MT"/>
                <a:cs typeface="Arial MT"/>
              </a:rPr>
              <a:t>!</a:t>
            </a:r>
            <a:endParaRPr baseline="-6535" sz="3825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137814" y="7442570"/>
            <a:ext cx="425767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03320" algn="l"/>
              </a:tabLst>
            </a:pPr>
            <a:r>
              <a:rPr dirty="0" sz="2550" spc="70">
                <a:solidFill>
                  <a:srgbClr val="E6E6E6"/>
                </a:solidFill>
                <a:latin typeface="Calibri"/>
                <a:cs typeface="Calibri"/>
              </a:rPr>
              <a:t>lieu</a:t>
            </a:r>
            <a:r>
              <a:rPr dirty="0" sz="2550" spc="260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550" spc="100">
                <a:solidFill>
                  <a:srgbClr val="E8E8E8"/>
                </a:solidFill>
                <a:latin typeface="Calibri"/>
                <a:cs typeface="Calibri"/>
              </a:rPr>
              <a:t>dau</a:t>
            </a:r>
            <a:r>
              <a:rPr dirty="0" sz="2550" spc="36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550" spc="95">
                <a:solidFill>
                  <a:srgbClr val="E8E8E8"/>
                </a:solidFill>
                <a:latin typeface="Calibri"/>
                <a:cs typeface="Calibri"/>
              </a:rPr>
              <a:t>vào</a:t>
            </a:r>
            <a:r>
              <a:rPr dirty="0" sz="2550" spc="31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550" spc="114">
                <a:solidFill>
                  <a:srgbClr val="E8E8E8"/>
                </a:solidFill>
                <a:latin typeface="Calibri"/>
                <a:cs typeface="Calibri"/>
              </a:rPr>
              <a:t>và</a:t>
            </a:r>
            <a:r>
              <a:rPr dirty="0" sz="2550" spc="26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550" spc="85">
                <a:solidFill>
                  <a:srgbClr val="E8E8E8"/>
                </a:solidFill>
                <a:latin typeface="Calibri"/>
                <a:cs typeface="Calibri"/>
              </a:rPr>
              <a:t>xuat</a:t>
            </a:r>
            <a:r>
              <a:rPr dirty="0" sz="2550" spc="29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550" spc="60">
                <a:solidFill>
                  <a:srgbClr val="E2E2E2"/>
                </a:solidFill>
                <a:latin typeface="Calibri"/>
                <a:cs typeface="Calibri"/>
              </a:rPr>
              <a:t>cac</a:t>
            </a:r>
            <a:r>
              <a:rPr dirty="0" sz="2550">
                <a:solidFill>
                  <a:srgbClr val="E2E2E2"/>
                </a:solidFill>
                <a:latin typeface="Calibri"/>
                <a:cs typeface="Calibri"/>
              </a:rPr>
              <a:t>	</a:t>
            </a:r>
            <a:r>
              <a:rPr dirty="0" sz="2550" spc="70">
                <a:solidFill>
                  <a:srgbClr val="DDDDDD"/>
                </a:solidFill>
                <a:latin typeface="Calibri"/>
                <a:cs typeface="Calibri"/>
              </a:rPr>
              <a:t>báo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5706" y="7978814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4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5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578158" y="7945173"/>
            <a:ext cx="367093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dang</a:t>
            </a:r>
            <a:r>
              <a:rPr dirty="0" sz="2550" spc="19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úng</a:t>
            </a:r>
            <a:r>
              <a:rPr dirty="0" sz="2550" spc="21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dung</a:t>
            </a:r>
            <a:r>
              <a:rPr dirty="0" sz="2550" spc="254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E8E8E8"/>
                </a:solidFill>
                <a:latin typeface="Arial MT"/>
                <a:cs typeface="Arial MT"/>
              </a:rPr>
              <a:t>Console.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855283" y="7945173"/>
            <a:ext cx="387985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100">
                <a:solidFill>
                  <a:srgbClr val="EBEBEB"/>
                </a:solidFill>
                <a:latin typeface="Calibri"/>
                <a:cs typeface="Calibri"/>
              </a:rPr>
              <a:t>phán</a:t>
            </a:r>
            <a:r>
              <a:rPr dirty="0" sz="2550" spc="315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dirty="0" sz="2550" spc="114">
                <a:solidFill>
                  <a:srgbClr val="E8E8E8"/>
                </a:solidFill>
                <a:latin typeface="Calibri"/>
                <a:cs typeface="Calibri"/>
              </a:rPr>
              <a:t>de</a:t>
            </a:r>
            <a:r>
              <a:rPr dirty="0" sz="2550" spc="28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550" spc="75">
                <a:solidFill>
                  <a:srgbClr val="EBEBEB"/>
                </a:solidFill>
                <a:latin typeface="Calibri"/>
                <a:cs typeface="Calibri"/>
              </a:rPr>
              <a:t>thao</a:t>
            </a:r>
            <a:r>
              <a:rPr dirty="0" sz="2550" spc="265">
                <a:solidFill>
                  <a:srgbClr val="EBEBEB"/>
                </a:solidFill>
                <a:latin typeface="Calibri"/>
                <a:cs typeface="Calibri"/>
              </a:rPr>
              <a:t> </a:t>
            </a:r>
            <a:r>
              <a:rPr dirty="0" sz="2550" spc="70">
                <a:solidFill>
                  <a:srgbClr val="E8E8E8"/>
                </a:solidFill>
                <a:latin typeface="Calibri"/>
                <a:cs typeface="Calibri"/>
              </a:rPr>
              <a:t>tac</a:t>
            </a:r>
            <a:r>
              <a:rPr dirty="0" sz="2550" spc="32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550" spc="130">
                <a:solidFill>
                  <a:srgbClr val="E8E8E8"/>
                </a:solidFill>
                <a:latin typeface="Calibri"/>
                <a:cs typeface="Calibri"/>
              </a:rPr>
              <a:t>trúc</a:t>
            </a:r>
            <a:r>
              <a:rPr dirty="0" sz="2550" spc="165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dirty="0" sz="2550" spc="65">
                <a:solidFill>
                  <a:srgbClr val="E6E6E6"/>
                </a:solidFill>
                <a:latin typeface="Calibri"/>
                <a:cs typeface="Calibri"/>
              </a:rPr>
              <a:t>tiep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141623" y="7945173"/>
            <a:ext cx="356997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cáo</a:t>
            </a:r>
            <a:r>
              <a:rPr dirty="0" sz="2550" spc="1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thÖng</a:t>
            </a:r>
            <a:r>
              <a:rPr dirty="0" sz="2550" spc="1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BDBDB"/>
                </a:solidFill>
                <a:latin typeface="Arial MT"/>
                <a:cs typeface="Arial MT"/>
              </a:rPr>
              <a:t>kê</a:t>
            </a:r>
            <a:r>
              <a:rPr dirty="0" sz="2550" spc="10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chính</a:t>
            </a:r>
            <a:r>
              <a:rPr dirty="0" sz="2550" spc="20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E2E2E2"/>
                </a:solidFill>
                <a:latin typeface="Arial MT"/>
                <a:cs typeface="Arial MT"/>
              </a:rPr>
              <a:t>xác.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5706" y="8544242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5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7850421" y="8447775"/>
            <a:ext cx="152019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80">
                <a:solidFill>
                  <a:srgbClr val="DDDDDD"/>
                </a:solidFill>
                <a:latin typeface="Arial MT"/>
                <a:cs typeface="Arial MT"/>
              </a:rPr>
              <a:t>trên</a:t>
            </a:r>
            <a:r>
              <a:rPr dirty="0" sz="2550" spc="2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55">
                <a:solidFill>
                  <a:srgbClr val="E2E2E2"/>
                </a:solidFill>
                <a:latin typeface="Arial MT"/>
                <a:cs typeface="Arial MT"/>
              </a:rPr>
              <a:t>RAM.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7920" rIns="0" bIns="0" rtlCol="0" vert="horz">
            <a:spAutoFit/>
          </a:bodyPr>
          <a:lstStyle/>
          <a:p>
            <a:pPr marL="1583055">
              <a:lnSpc>
                <a:spcPct val="100000"/>
              </a:lnSpc>
              <a:spcBef>
                <a:spcPts val="110"/>
              </a:spcBef>
            </a:pPr>
            <a:r>
              <a:rPr dirty="0" sz="9650" spc="-370"/>
              <a:t>2.</a:t>
            </a:r>
            <a:r>
              <a:rPr dirty="0" sz="9650" spc="-725"/>
              <a:t> </a:t>
            </a:r>
            <a:r>
              <a:rPr dirty="0" sz="9650" spc="-350"/>
              <a:t>Yêu</a:t>
            </a:r>
            <a:r>
              <a:rPr dirty="0" sz="9650" spc="-445"/>
              <a:t> </a:t>
            </a:r>
            <a:r>
              <a:rPr dirty="0" sz="9650"/>
              <a:t>cau</a:t>
            </a:r>
            <a:r>
              <a:rPr dirty="0" sz="9650" spc="-550"/>
              <a:t> </a:t>
            </a:r>
            <a:r>
              <a:rPr dirty="0" sz="9650" spc="165"/>
              <a:t>Chúc</a:t>
            </a:r>
            <a:r>
              <a:rPr dirty="0" sz="9650" spc="90"/>
              <a:t> </a:t>
            </a:r>
            <a:r>
              <a:rPr dirty="0" sz="9650" spc="295"/>
              <a:t>nöng</a:t>
            </a:r>
            <a:endParaRPr sz="9650"/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5858460"/>
            <a:ext cx="20088860" cy="94615"/>
            <a:chOff x="15706" y="5858460"/>
            <a:chExt cx="20088860" cy="946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5858460"/>
              <a:ext cx="20088393" cy="9423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5858460"/>
              <a:ext cx="20088393" cy="94237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5706" y="6957903"/>
            <a:ext cx="20080605" cy="416559"/>
          </a:xfrm>
          <a:custGeom>
            <a:avLst/>
            <a:gdLst/>
            <a:ahLst/>
            <a:cxnLst/>
            <a:rect l="l" t="t" r="r" b="b"/>
            <a:pathLst>
              <a:path w="20080605" h="416559">
                <a:moveTo>
                  <a:pt x="20080541" y="416217"/>
                </a:moveTo>
                <a:lnTo>
                  <a:pt x="0" y="41621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16217"/>
                </a:lnTo>
                <a:close/>
              </a:path>
            </a:pathLst>
          </a:custGeom>
          <a:solidFill>
            <a:srgbClr val="03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353643" y="6841803"/>
            <a:ext cx="737235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45">
                <a:solidFill>
                  <a:srgbClr val="E6E6E6"/>
                </a:solidFill>
                <a:latin typeface="Arial MT"/>
                <a:cs typeface="Arial MT"/>
              </a:rPr>
              <a:t>Quàn</a:t>
            </a:r>
            <a:r>
              <a:rPr dirty="0" sz="3350" spc="-17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DFDFDF"/>
                </a:solidFill>
                <a:latin typeface="Arial MT"/>
                <a:cs typeface="Arial MT"/>
              </a:rPr>
              <a:t>Iÿ,</a:t>
            </a:r>
            <a:r>
              <a:rPr dirty="0" sz="3350" spc="-1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1E1E1"/>
                </a:solidFill>
                <a:latin typeface="Arial MT"/>
                <a:cs typeface="Arial MT"/>
              </a:rPr>
              <a:t>Cap</a:t>
            </a:r>
            <a:r>
              <a:rPr dirty="0" sz="3350" spc="-3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1E1E1"/>
                </a:solidFill>
                <a:latin typeface="Arial MT"/>
                <a:cs typeface="Arial MT"/>
              </a:rPr>
              <a:t>nhat,</a:t>
            </a:r>
            <a:r>
              <a:rPr dirty="0" sz="3350" spc="-6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1E1E1"/>
                </a:solidFill>
                <a:latin typeface="Arial MT"/>
                <a:cs typeface="Arial MT"/>
              </a:rPr>
              <a:t>Tra</a:t>
            </a:r>
            <a:r>
              <a:rPr dirty="0" sz="3350" spc="6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350" spc="65">
                <a:solidFill>
                  <a:srgbClr val="E4E4E4"/>
                </a:solidFill>
                <a:latin typeface="Arial MT"/>
                <a:cs typeface="Arial MT"/>
              </a:rPr>
              <a:t>cúu</a:t>
            </a:r>
            <a:r>
              <a:rPr dirty="0" sz="3350" spc="-14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E4E4E4"/>
                </a:solidFill>
                <a:latin typeface="Arial MT"/>
                <a:cs typeface="Arial MT"/>
              </a:rPr>
              <a:t>và</a:t>
            </a:r>
            <a:r>
              <a:rPr dirty="0" sz="3350" spc="3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350" spc="-10">
                <a:solidFill>
                  <a:srgbClr val="DFDFDF"/>
                </a:solidFill>
                <a:latin typeface="Arial MT"/>
                <a:cs typeface="Arial MT"/>
              </a:rPr>
              <a:t>Báo</a:t>
            </a:r>
            <a:r>
              <a:rPr dirty="0" sz="3350" spc="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350" spc="-25">
                <a:solidFill>
                  <a:srgbClr val="E8E8E8"/>
                </a:solidFill>
                <a:latin typeface="Arial MT"/>
                <a:cs typeface="Arial MT"/>
              </a:rPr>
              <a:t>cáo</a:t>
            </a:r>
            <a:endParaRPr sz="3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6901" y="47118"/>
            <a:ext cx="4209295" cy="17276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06" y="47118"/>
            <a:ext cx="20088860" cy="173355"/>
            <a:chOff x="15706" y="47118"/>
            <a:chExt cx="20088860" cy="17335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5448" y="47118"/>
              <a:ext cx="4209295" cy="14135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47118"/>
              <a:ext cx="20088393" cy="172769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5706" y="910967"/>
            <a:ext cx="20080605" cy="2442845"/>
          </a:xfrm>
          <a:custGeom>
            <a:avLst/>
            <a:gdLst/>
            <a:ahLst/>
            <a:cxnLst/>
            <a:rect l="l" t="t" r="r" b="b"/>
            <a:pathLst>
              <a:path w="20080605" h="2442845">
                <a:moveTo>
                  <a:pt x="20080541" y="2442334"/>
                </a:moveTo>
                <a:lnTo>
                  <a:pt x="0" y="244233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42334"/>
                </a:lnTo>
                <a:close/>
              </a:path>
            </a:pathLst>
          </a:custGeom>
          <a:solidFill>
            <a:srgbClr val="070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6628" rIns="0" bIns="0" rtlCol="0" vert="horz">
            <a:spAutoFit/>
          </a:bodyPr>
          <a:lstStyle/>
          <a:p>
            <a:pPr marL="2577465">
              <a:lnSpc>
                <a:spcPct val="100000"/>
              </a:lnSpc>
              <a:spcBef>
                <a:spcPts val="110"/>
              </a:spcBef>
            </a:pPr>
            <a:r>
              <a:rPr dirty="0" sz="2950"/>
              <a:t>Duyet</a:t>
            </a:r>
            <a:r>
              <a:rPr dirty="0" sz="2950" spc="120"/>
              <a:t> </a:t>
            </a:r>
            <a:r>
              <a:rPr dirty="0" sz="2950" spc="160"/>
              <a:t>donh</a:t>
            </a:r>
            <a:r>
              <a:rPr dirty="0" sz="2950" spc="-175"/>
              <a:t> </a:t>
            </a:r>
            <a:r>
              <a:rPr dirty="0" sz="2950" spc="135"/>
              <a:t>sóch</a:t>
            </a:r>
            <a:r>
              <a:rPr dirty="0" sz="2950" spc="-210"/>
              <a:t> </a:t>
            </a:r>
            <a:r>
              <a:rPr dirty="0" sz="2950" spc="150"/>
              <a:t>tóng</a:t>
            </a:r>
            <a:r>
              <a:rPr dirty="0" sz="2950" spc="-70"/>
              <a:t> </a:t>
            </a:r>
            <a:r>
              <a:rPr dirty="0" sz="2950" spc="90"/>
              <a:t>thé</a:t>
            </a:r>
            <a:endParaRPr sz="2950"/>
          </a:p>
        </p:txBody>
      </p:sp>
      <p:sp>
        <p:nvSpPr>
          <p:cNvPr id="8" name="object 8" descr=""/>
          <p:cNvSpPr/>
          <p:nvPr/>
        </p:nvSpPr>
        <p:spPr>
          <a:xfrm>
            <a:off x="15706" y="3690987"/>
            <a:ext cx="20080605" cy="2458085"/>
          </a:xfrm>
          <a:custGeom>
            <a:avLst/>
            <a:gdLst/>
            <a:ahLst/>
            <a:cxnLst/>
            <a:rect l="l" t="t" r="r" b="b"/>
            <a:pathLst>
              <a:path w="20080605" h="2458085">
                <a:moveTo>
                  <a:pt x="20080541" y="2458040"/>
                </a:moveTo>
                <a:lnTo>
                  <a:pt x="0" y="245804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58040"/>
                </a:lnTo>
                <a:close/>
              </a:path>
            </a:pathLst>
          </a:custGeom>
          <a:solidFill>
            <a:srgbClr val="050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706" y="6502420"/>
            <a:ext cx="20080605" cy="2442845"/>
          </a:xfrm>
          <a:custGeom>
            <a:avLst/>
            <a:gdLst/>
            <a:ahLst/>
            <a:cxnLst/>
            <a:rect l="l" t="t" r="r" b="b"/>
            <a:pathLst>
              <a:path w="20080605" h="2442845">
                <a:moveTo>
                  <a:pt x="20080541" y="2442334"/>
                </a:moveTo>
                <a:lnTo>
                  <a:pt x="0" y="244233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42334"/>
                </a:lnTo>
                <a:close/>
              </a:path>
            </a:pathLst>
          </a:custGeom>
          <a:solidFill>
            <a:srgbClr val="0307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0485" marR="196215" indent="2540">
              <a:lnSpc>
                <a:spcPct val="129299"/>
              </a:lnSpc>
              <a:spcBef>
                <a:spcPts val="95"/>
              </a:spcBef>
              <a:tabLst>
                <a:tab pos="8947150" algn="l"/>
              </a:tabLst>
            </a:pPr>
            <a:r>
              <a:rPr dirty="0">
                <a:solidFill>
                  <a:srgbClr val="DDDDDD"/>
                </a:solidFill>
              </a:rPr>
              <a:t>Hien</a:t>
            </a:r>
            <a:r>
              <a:rPr dirty="0" spc="204">
                <a:solidFill>
                  <a:srgbClr val="DDDDDD"/>
                </a:solidFill>
              </a:rPr>
              <a:t> </a:t>
            </a:r>
            <a:r>
              <a:rPr dirty="0" baseline="4357" sz="3825" spc="179">
                <a:solidFill>
                  <a:srgbClr val="E6E6E6"/>
                </a:solidFill>
              </a:rPr>
              <a:t>th</a:t>
            </a:r>
            <a:r>
              <a:rPr dirty="0" baseline="-6535" sz="3825" spc="179">
                <a:solidFill>
                  <a:srgbClr val="E6E6E6"/>
                </a:solidFill>
              </a:rPr>
              <a:t>!</a:t>
            </a:r>
            <a:r>
              <a:rPr dirty="0" baseline="-6535" sz="3825" spc="-277">
                <a:solidFill>
                  <a:srgbClr val="E6E6E6"/>
                </a:solidFill>
              </a:rPr>
              <a:t> </a:t>
            </a:r>
            <a:r>
              <a:rPr dirty="0" sz="2550">
                <a:solidFill>
                  <a:srgbClr val="DFDFDF"/>
                </a:solidFill>
              </a:rPr>
              <a:t>thông</a:t>
            </a:r>
            <a:r>
              <a:rPr dirty="0" sz="2550" spc="265">
                <a:solidFill>
                  <a:srgbClr val="DFDFDF"/>
                </a:solidFill>
              </a:rPr>
              <a:t> </a:t>
            </a:r>
            <a:r>
              <a:rPr dirty="0" sz="2550" spc="65">
                <a:solidFill>
                  <a:srgbClr val="E4E4E4"/>
                </a:solidFill>
              </a:rPr>
              <a:t>tin</a:t>
            </a:r>
            <a:r>
              <a:rPr dirty="0" sz="2550" spc="150">
                <a:solidFill>
                  <a:srgbClr val="E4E4E4"/>
                </a:solidFill>
              </a:rPr>
              <a:t> </a:t>
            </a:r>
            <a:r>
              <a:rPr dirty="0" sz="2550">
                <a:solidFill>
                  <a:srgbClr val="E8E8E8"/>
                </a:solidFill>
              </a:rPr>
              <a:t>toàn</a:t>
            </a:r>
            <a:r>
              <a:rPr dirty="0" sz="2550" spc="225">
                <a:solidFill>
                  <a:srgbClr val="E8E8E8"/>
                </a:solidFill>
              </a:rPr>
              <a:t> </a:t>
            </a:r>
            <a:r>
              <a:rPr dirty="0" sz="2550">
                <a:solidFill>
                  <a:srgbClr val="DFDFDF"/>
                </a:solidFill>
              </a:rPr>
              <a:t>bo</a:t>
            </a:r>
            <a:r>
              <a:rPr dirty="0" sz="2550" spc="200">
                <a:solidFill>
                  <a:srgbClr val="DFDFDF"/>
                </a:solidFill>
              </a:rPr>
              <a:t> </a:t>
            </a:r>
            <a:r>
              <a:rPr dirty="0" sz="2550"/>
              <a:t>he</a:t>
            </a:r>
            <a:r>
              <a:rPr dirty="0" sz="2550" spc="260"/>
              <a:t> </a:t>
            </a:r>
            <a:r>
              <a:rPr dirty="0" sz="2550">
                <a:solidFill>
                  <a:srgbClr val="E8E8E8"/>
                </a:solidFill>
              </a:rPr>
              <a:t>thong</a:t>
            </a:r>
            <a:r>
              <a:rPr dirty="0" sz="2550" spc="285">
                <a:solidFill>
                  <a:srgbClr val="E8E8E8"/>
                </a:solidFill>
              </a:rPr>
              <a:t> </a:t>
            </a:r>
            <a:r>
              <a:rPr dirty="0" sz="2550">
                <a:solidFill>
                  <a:srgbClr val="DBDBDB"/>
                </a:solidFill>
              </a:rPr>
              <a:t>düói</a:t>
            </a:r>
            <a:r>
              <a:rPr dirty="0" sz="2550" spc="250">
                <a:solidFill>
                  <a:srgbClr val="DBDBDB"/>
                </a:solidFill>
              </a:rPr>
              <a:t> </a:t>
            </a:r>
            <a:r>
              <a:rPr dirty="0" sz="2550"/>
              <a:t>dang</a:t>
            </a:r>
            <a:r>
              <a:rPr dirty="0" sz="2550" spc="215"/>
              <a:t> </a:t>
            </a:r>
            <a:r>
              <a:rPr dirty="0" sz="2550"/>
              <a:t>bàng</a:t>
            </a:r>
            <a:r>
              <a:rPr dirty="0" sz="2550" spc="260"/>
              <a:t> </a:t>
            </a:r>
            <a:r>
              <a:rPr dirty="0" sz="2550" spc="-10"/>
              <a:t>(Table)</a:t>
            </a:r>
            <a:r>
              <a:rPr dirty="0" sz="2550"/>
              <a:t>	</a:t>
            </a:r>
            <a:r>
              <a:rPr dirty="0" sz="2550">
                <a:solidFill>
                  <a:srgbClr val="DDDDDD"/>
                </a:solidFill>
              </a:rPr>
              <a:t>düdc</a:t>
            </a:r>
            <a:r>
              <a:rPr dirty="0" sz="2550" spc="175">
                <a:solidFill>
                  <a:srgbClr val="DDDDDD"/>
                </a:solidFill>
              </a:rPr>
              <a:t> </a:t>
            </a:r>
            <a:r>
              <a:rPr dirty="0" sz="2550">
                <a:solidFill>
                  <a:srgbClr val="DDDDDD"/>
                </a:solidFill>
              </a:rPr>
              <a:t>cãn</a:t>
            </a:r>
            <a:r>
              <a:rPr dirty="0" sz="2550" spc="120">
                <a:solidFill>
                  <a:srgbClr val="DDDDDD"/>
                </a:solidFill>
              </a:rPr>
              <a:t> </a:t>
            </a:r>
            <a:r>
              <a:rPr dirty="0" sz="2550"/>
              <a:t>le</a:t>
            </a:r>
            <a:r>
              <a:rPr dirty="0" sz="2550" spc="165"/>
              <a:t> </a:t>
            </a:r>
            <a:r>
              <a:rPr dirty="0" sz="2550">
                <a:solidFill>
                  <a:srgbClr val="DDDDDD"/>
                </a:solidFill>
              </a:rPr>
              <a:t>chuan</a:t>
            </a:r>
            <a:r>
              <a:rPr dirty="0" sz="2550" spc="270">
                <a:solidFill>
                  <a:srgbClr val="DDDDDD"/>
                </a:solidFill>
              </a:rPr>
              <a:t> </a:t>
            </a:r>
            <a:r>
              <a:rPr dirty="0" sz="2550"/>
              <a:t>xác,</a:t>
            </a:r>
            <a:r>
              <a:rPr dirty="0" sz="2550" spc="204"/>
              <a:t> </a:t>
            </a:r>
            <a:r>
              <a:rPr dirty="0" sz="2550">
                <a:solidFill>
                  <a:srgbClr val="DDDDDD"/>
                </a:solidFill>
              </a:rPr>
              <a:t>de</a:t>
            </a:r>
            <a:r>
              <a:rPr dirty="0" sz="2550" spc="190">
                <a:solidFill>
                  <a:srgbClr val="DDDDDD"/>
                </a:solidFill>
              </a:rPr>
              <a:t> </a:t>
            </a:r>
            <a:r>
              <a:rPr dirty="0" sz="2550" spc="-25">
                <a:solidFill>
                  <a:srgbClr val="DBDBDB"/>
                </a:solidFill>
              </a:rPr>
              <a:t>doc </a:t>
            </a:r>
            <a:r>
              <a:rPr dirty="0" sz="2550" spc="80">
                <a:solidFill>
                  <a:srgbClr val="DBDBDB"/>
                </a:solidFill>
              </a:rPr>
              <a:t>trên</a:t>
            </a:r>
            <a:r>
              <a:rPr dirty="0" sz="2550" spc="135">
                <a:solidFill>
                  <a:srgbClr val="DBDBDB"/>
                </a:solidFill>
              </a:rPr>
              <a:t> </a:t>
            </a:r>
            <a:r>
              <a:rPr dirty="0" sz="2550">
                <a:solidFill>
                  <a:srgbClr val="DBDBDB"/>
                </a:solidFill>
              </a:rPr>
              <a:t>môi</a:t>
            </a:r>
            <a:r>
              <a:rPr dirty="0" sz="2550" spc="170">
                <a:solidFill>
                  <a:srgbClr val="DBDBDB"/>
                </a:solidFill>
              </a:rPr>
              <a:t> </a:t>
            </a:r>
            <a:r>
              <a:rPr dirty="0" sz="2550" spc="55">
                <a:solidFill>
                  <a:srgbClr val="E6E6E6"/>
                </a:solidFill>
              </a:rPr>
              <a:t>trüõng</a:t>
            </a:r>
            <a:r>
              <a:rPr dirty="0" sz="2550" spc="315">
                <a:solidFill>
                  <a:srgbClr val="E6E6E6"/>
                </a:solidFill>
              </a:rPr>
              <a:t> </a:t>
            </a:r>
            <a:r>
              <a:rPr dirty="0" sz="2550" spc="-10"/>
              <a:t>Console.</a:t>
            </a:r>
            <a:endParaRPr sz="2550"/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55"/>
              </a:spcBef>
            </a:pPr>
          </a:p>
          <a:p>
            <a:pPr marL="63500">
              <a:lnSpc>
                <a:spcPct val="100000"/>
              </a:lnSpc>
            </a:pPr>
            <a:r>
              <a:rPr dirty="0" sz="3100" spc="-254">
                <a:solidFill>
                  <a:srgbClr val="FFFFFF"/>
                </a:solidFill>
              </a:rPr>
              <a:t>Bo</a:t>
            </a:r>
            <a:r>
              <a:rPr dirty="0" sz="3100" spc="-235">
                <a:solidFill>
                  <a:srgbClr val="FFFFFF"/>
                </a:solidFill>
              </a:rPr>
              <a:t> </a:t>
            </a:r>
            <a:r>
              <a:rPr dirty="0" sz="3100">
                <a:solidFill>
                  <a:srgbClr val="FFFFFF"/>
                </a:solidFill>
              </a:rPr>
              <a:t>Igc</a:t>
            </a:r>
            <a:r>
              <a:rPr dirty="0" sz="3100" spc="-145">
                <a:solidFill>
                  <a:srgbClr val="FFFFFF"/>
                </a:solidFill>
              </a:rPr>
              <a:t> </a:t>
            </a:r>
            <a:r>
              <a:rPr dirty="0" sz="3100" spc="-80">
                <a:solidFill>
                  <a:srgbClr val="FFFFFF"/>
                </a:solidFill>
              </a:rPr>
              <a:t>di?</a:t>
            </a:r>
            <a:r>
              <a:rPr dirty="0" sz="3100" spc="-340">
                <a:solidFill>
                  <a:srgbClr val="FFFFFF"/>
                </a:solidFill>
              </a:rPr>
              <a:t> </a:t>
            </a:r>
            <a:r>
              <a:rPr dirty="0" sz="3100" spc="-35">
                <a:solidFill>
                  <a:srgbClr val="FFFFFF"/>
                </a:solidFill>
              </a:rPr>
              <a:t>lieu</a:t>
            </a:r>
            <a:r>
              <a:rPr dirty="0" sz="3100" spc="-355">
                <a:solidFill>
                  <a:srgbClr val="FFFFFF"/>
                </a:solidFill>
              </a:rPr>
              <a:t> </a:t>
            </a:r>
            <a:r>
              <a:rPr dirty="0" sz="3100" spc="95">
                <a:solidFill>
                  <a:srgbClr val="FFFFFF"/>
                </a:solidFill>
              </a:rPr>
              <a:t>cao</a:t>
            </a:r>
            <a:r>
              <a:rPr dirty="0" sz="3100" spc="-260">
                <a:solidFill>
                  <a:srgbClr val="FFFFFF"/>
                </a:solidFill>
              </a:rPr>
              <a:t> </a:t>
            </a:r>
            <a:r>
              <a:rPr dirty="0" sz="3100" spc="-25">
                <a:solidFill>
                  <a:srgbClr val="FFFFFF"/>
                </a:solidFill>
              </a:rPr>
              <a:t>cap</a:t>
            </a:r>
            <a:endParaRPr sz="3100"/>
          </a:p>
          <a:p>
            <a:pPr marL="73660" marR="240029" indent="1905">
              <a:lnSpc>
                <a:spcPct val="122100"/>
              </a:lnSpc>
              <a:spcBef>
                <a:spcPts val="1155"/>
              </a:spcBef>
            </a:pPr>
            <a:r>
              <a:rPr dirty="0" sz="2700" spc="-30">
                <a:solidFill>
                  <a:srgbClr val="DBDBDB"/>
                </a:solidFill>
              </a:rPr>
              <a:t>Trích</a:t>
            </a:r>
            <a:r>
              <a:rPr dirty="0" sz="2700" spc="-110">
                <a:solidFill>
                  <a:srgbClr val="DBDBDB"/>
                </a:solidFill>
              </a:rPr>
              <a:t> </a:t>
            </a:r>
            <a:r>
              <a:rPr dirty="0" sz="2700" spc="-10">
                <a:solidFill>
                  <a:srgbClr val="DFDFDF"/>
                </a:solidFill>
              </a:rPr>
              <a:t>xuat</a:t>
            </a:r>
            <a:r>
              <a:rPr dirty="0" sz="2700" spc="-35">
                <a:solidFill>
                  <a:srgbClr val="DFDFDF"/>
                </a:solidFill>
              </a:rPr>
              <a:t> </a:t>
            </a:r>
            <a:r>
              <a:rPr dirty="0" sz="2700" spc="-50">
                <a:solidFill>
                  <a:srgbClr val="DBDBDB"/>
                </a:solidFill>
              </a:rPr>
              <a:t>và</a:t>
            </a:r>
            <a:r>
              <a:rPr dirty="0" sz="2700" spc="-85">
                <a:solidFill>
                  <a:srgbClr val="DBDBDB"/>
                </a:solidFill>
              </a:rPr>
              <a:t> </a:t>
            </a:r>
            <a:r>
              <a:rPr dirty="0" sz="2700">
                <a:solidFill>
                  <a:srgbClr val="E4E4E4"/>
                </a:solidFill>
              </a:rPr>
              <a:t>hien</a:t>
            </a:r>
            <a:r>
              <a:rPr dirty="0" sz="2700" spc="-114">
                <a:solidFill>
                  <a:srgbClr val="E4E4E4"/>
                </a:solidFill>
              </a:rPr>
              <a:t> </a:t>
            </a:r>
            <a:r>
              <a:rPr dirty="0" baseline="4115" sz="4050" spc="120">
                <a:solidFill>
                  <a:srgbClr val="E8E8E8"/>
                </a:solidFill>
              </a:rPr>
              <a:t>th</a:t>
            </a:r>
            <a:r>
              <a:rPr dirty="0" baseline="-6172" sz="4050" spc="120">
                <a:solidFill>
                  <a:srgbClr val="E8E8E8"/>
                </a:solidFill>
              </a:rPr>
              <a:t>!</a:t>
            </a:r>
            <a:r>
              <a:rPr dirty="0" baseline="-6172" sz="4050" spc="-450">
                <a:solidFill>
                  <a:srgbClr val="E8E8E8"/>
                </a:solidFill>
              </a:rPr>
              <a:t> </a:t>
            </a:r>
            <a:r>
              <a:rPr dirty="0" sz="2700">
                <a:solidFill>
                  <a:srgbClr val="E4E4E4"/>
                </a:solidFill>
              </a:rPr>
              <a:t>riêng</a:t>
            </a:r>
            <a:r>
              <a:rPr dirty="0" sz="2700" spc="-120">
                <a:solidFill>
                  <a:srgbClr val="E4E4E4"/>
                </a:solidFill>
              </a:rPr>
              <a:t> </a:t>
            </a:r>
            <a:r>
              <a:rPr dirty="0" sz="2700">
                <a:solidFill>
                  <a:srgbClr val="E6E6E6"/>
                </a:solidFill>
              </a:rPr>
              <a:t>biet</a:t>
            </a:r>
            <a:r>
              <a:rPr dirty="0" sz="2700" spc="-50">
                <a:solidFill>
                  <a:srgbClr val="E6E6E6"/>
                </a:solidFill>
              </a:rPr>
              <a:t> </a:t>
            </a:r>
            <a:r>
              <a:rPr dirty="0" sz="2700" spc="-20">
                <a:solidFill>
                  <a:srgbClr val="E6E6E6"/>
                </a:solidFill>
              </a:rPr>
              <a:t>danh</a:t>
            </a:r>
            <a:r>
              <a:rPr dirty="0" sz="2700" spc="-75">
                <a:solidFill>
                  <a:srgbClr val="E6E6E6"/>
                </a:solidFill>
              </a:rPr>
              <a:t> </a:t>
            </a:r>
            <a:r>
              <a:rPr dirty="0" sz="2700" spc="-10">
                <a:solidFill>
                  <a:srgbClr val="E6E6E6"/>
                </a:solidFill>
              </a:rPr>
              <a:t>sách</a:t>
            </a:r>
            <a:r>
              <a:rPr dirty="0" sz="2700" spc="-75">
                <a:solidFill>
                  <a:srgbClr val="E6E6E6"/>
                </a:solidFill>
              </a:rPr>
              <a:t> </a:t>
            </a:r>
            <a:r>
              <a:rPr dirty="0" sz="2700">
                <a:solidFill>
                  <a:srgbClr val="DDDDDD"/>
                </a:solidFill>
              </a:rPr>
              <a:t>các</a:t>
            </a:r>
            <a:r>
              <a:rPr dirty="0" sz="2700" spc="-120">
                <a:solidFill>
                  <a:srgbClr val="DDDDDD"/>
                </a:solidFill>
              </a:rPr>
              <a:t> </a:t>
            </a:r>
            <a:r>
              <a:rPr dirty="0" sz="2700" spc="-10">
                <a:solidFill>
                  <a:srgbClr val="DFDFDF"/>
                </a:solidFill>
              </a:rPr>
              <a:t>khách</a:t>
            </a:r>
            <a:r>
              <a:rPr dirty="0" sz="2700" spc="15">
                <a:solidFill>
                  <a:srgbClr val="DFDFDF"/>
                </a:solidFill>
              </a:rPr>
              <a:t> </a:t>
            </a:r>
            <a:r>
              <a:rPr dirty="0" sz="2700" spc="-40">
                <a:solidFill>
                  <a:srgbClr val="DDDDDD"/>
                </a:solidFill>
              </a:rPr>
              <a:t>san</a:t>
            </a:r>
            <a:r>
              <a:rPr dirty="0" sz="2700" spc="-110">
                <a:solidFill>
                  <a:srgbClr val="DDDDDD"/>
                </a:solidFill>
              </a:rPr>
              <a:t> </a:t>
            </a:r>
            <a:r>
              <a:rPr dirty="0" sz="2700">
                <a:solidFill>
                  <a:srgbClr val="E4E4E4"/>
                </a:solidFill>
              </a:rPr>
              <a:t>dat</a:t>
            </a:r>
            <a:r>
              <a:rPr dirty="0" sz="2700" spc="-45">
                <a:solidFill>
                  <a:srgbClr val="E4E4E4"/>
                </a:solidFill>
              </a:rPr>
              <a:t> </a:t>
            </a:r>
            <a:r>
              <a:rPr dirty="0" sz="2700" spc="-20">
                <a:solidFill>
                  <a:srgbClr val="DBDBDB"/>
                </a:solidFill>
              </a:rPr>
              <a:t>chuan</a:t>
            </a:r>
            <a:r>
              <a:rPr dirty="0" sz="2700" spc="-75">
                <a:solidFill>
                  <a:srgbClr val="DBDBDB"/>
                </a:solidFill>
              </a:rPr>
              <a:t> </a:t>
            </a:r>
            <a:r>
              <a:rPr dirty="0" sz="2700" spc="-10">
                <a:solidFill>
                  <a:srgbClr val="DDDDDD"/>
                </a:solidFill>
              </a:rPr>
              <a:t>cao</a:t>
            </a:r>
            <a:r>
              <a:rPr dirty="0" sz="2700" spc="-90">
                <a:solidFill>
                  <a:srgbClr val="DDDDDD"/>
                </a:solidFill>
              </a:rPr>
              <a:t> </a:t>
            </a:r>
            <a:r>
              <a:rPr dirty="0" sz="2700">
                <a:solidFill>
                  <a:srgbClr val="DBDBDB"/>
                </a:solidFill>
              </a:rPr>
              <a:t>cap</a:t>
            </a:r>
            <a:r>
              <a:rPr dirty="0" sz="2700" spc="-40">
                <a:solidFill>
                  <a:srgbClr val="DBDBDB"/>
                </a:solidFill>
              </a:rPr>
              <a:t> </a:t>
            </a:r>
            <a:r>
              <a:rPr dirty="0" sz="2700">
                <a:solidFill>
                  <a:srgbClr val="DFDFDF"/>
                </a:solidFill>
              </a:rPr>
              <a:t>(vi</a:t>
            </a:r>
            <a:r>
              <a:rPr dirty="0" sz="2700" spc="-185">
                <a:solidFill>
                  <a:srgbClr val="DFDFDF"/>
                </a:solidFill>
              </a:rPr>
              <a:t> </a:t>
            </a:r>
            <a:r>
              <a:rPr dirty="0" sz="2700">
                <a:solidFill>
                  <a:srgbClr val="E6E6E6"/>
                </a:solidFill>
              </a:rPr>
              <a:t>du:</a:t>
            </a:r>
            <a:r>
              <a:rPr dirty="0" sz="2700" spc="-80">
                <a:solidFill>
                  <a:srgbClr val="E6E6E6"/>
                </a:solidFill>
              </a:rPr>
              <a:t> </a:t>
            </a:r>
            <a:r>
              <a:rPr dirty="0" sz="2700" spc="-45">
                <a:solidFill>
                  <a:srgbClr val="E8E8E8"/>
                </a:solidFill>
              </a:rPr>
              <a:t>Khách </a:t>
            </a:r>
            <a:r>
              <a:rPr dirty="0" sz="2700">
                <a:solidFill>
                  <a:srgbClr val="E6E6E6"/>
                </a:solidFill>
              </a:rPr>
              <a:t>san</a:t>
            </a:r>
            <a:r>
              <a:rPr dirty="0" sz="2700" spc="-95">
                <a:solidFill>
                  <a:srgbClr val="E6E6E6"/>
                </a:solidFill>
              </a:rPr>
              <a:t> </a:t>
            </a:r>
            <a:r>
              <a:rPr dirty="0" sz="2700">
                <a:solidFill>
                  <a:srgbClr val="DBDBDB"/>
                </a:solidFill>
              </a:rPr>
              <a:t>5</a:t>
            </a:r>
            <a:r>
              <a:rPr dirty="0" sz="2700" spc="-50">
                <a:solidFill>
                  <a:srgbClr val="DBDBDB"/>
                </a:solidFill>
              </a:rPr>
              <a:t> </a:t>
            </a:r>
            <a:r>
              <a:rPr dirty="0" sz="2700" spc="-10"/>
              <a:t>sao).</a:t>
            </a:r>
            <a:endParaRPr sz="2700"/>
          </a:p>
          <a:p>
            <a:pPr>
              <a:lnSpc>
                <a:spcPct val="100000"/>
              </a:lnSpc>
            </a:pPr>
            <a:endParaRPr sz="2700"/>
          </a:p>
          <a:p>
            <a:pPr>
              <a:lnSpc>
                <a:spcPct val="100000"/>
              </a:lnSpc>
            </a:pPr>
            <a:endParaRPr sz="2700"/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700"/>
          </a:p>
          <a:p>
            <a:pPr marL="67310">
              <a:lnSpc>
                <a:spcPct val="100000"/>
              </a:lnSpc>
            </a:pPr>
            <a:r>
              <a:rPr dirty="0" sz="2950" spc="160">
                <a:solidFill>
                  <a:srgbClr val="FFFFFF"/>
                </a:solidFill>
              </a:rPr>
              <a:t>Tim</a:t>
            </a:r>
            <a:r>
              <a:rPr dirty="0" sz="2950" spc="-315">
                <a:solidFill>
                  <a:srgbClr val="FFFFFF"/>
                </a:solidFill>
              </a:rPr>
              <a:t> </a:t>
            </a:r>
            <a:r>
              <a:rPr dirty="0" sz="2950" spc="105">
                <a:solidFill>
                  <a:srgbClr val="FFFFFF"/>
                </a:solidFill>
              </a:rPr>
              <a:t>kiém</a:t>
            </a:r>
            <a:r>
              <a:rPr dirty="0" sz="2950" spc="-375">
                <a:solidFill>
                  <a:srgbClr val="FFFFFF"/>
                </a:solidFill>
              </a:rPr>
              <a:t> </a:t>
            </a:r>
            <a:r>
              <a:rPr dirty="0" sz="2950" spc="125">
                <a:solidFill>
                  <a:srgbClr val="FFFFFF"/>
                </a:solidFill>
              </a:rPr>
              <a:t>chính</a:t>
            </a:r>
            <a:r>
              <a:rPr dirty="0" sz="2950" spc="-204">
                <a:solidFill>
                  <a:srgbClr val="FFFFFF"/>
                </a:solidFill>
              </a:rPr>
              <a:t> </a:t>
            </a:r>
            <a:r>
              <a:rPr dirty="0" sz="2950" spc="90">
                <a:solidFill>
                  <a:srgbClr val="FFFFFF"/>
                </a:solidFill>
              </a:rPr>
              <a:t>xóc</a:t>
            </a:r>
            <a:r>
              <a:rPr dirty="0" sz="2950" spc="150">
                <a:solidFill>
                  <a:srgbClr val="FFFFFF"/>
                </a:solidFill>
              </a:rPr>
              <a:t> </a:t>
            </a:r>
            <a:r>
              <a:rPr dirty="0" sz="2950" spc="75">
                <a:solidFill>
                  <a:srgbClr val="FFFFFF"/>
                </a:solidFill>
              </a:rPr>
              <a:t>(Exoct</a:t>
            </a:r>
            <a:r>
              <a:rPr dirty="0" sz="2950" spc="90">
                <a:solidFill>
                  <a:srgbClr val="FFFFFF"/>
                </a:solidFill>
              </a:rPr>
              <a:t> </a:t>
            </a:r>
            <a:r>
              <a:rPr dirty="0" sz="2950" spc="145">
                <a:solidFill>
                  <a:srgbClr val="FFFFFF"/>
                </a:solidFill>
              </a:rPr>
              <a:t>Match)</a:t>
            </a:r>
            <a:endParaRPr sz="2950"/>
          </a:p>
          <a:p>
            <a:pPr marL="72390" marR="43180" indent="3175">
              <a:lnSpc>
                <a:spcPct val="122100"/>
              </a:lnSpc>
              <a:spcBef>
                <a:spcPts val="1065"/>
              </a:spcBef>
              <a:tabLst>
                <a:tab pos="12360275" algn="l"/>
              </a:tabLst>
            </a:pPr>
            <a:r>
              <a:rPr dirty="0" sz="2700" spc="-50"/>
              <a:t>Tra</a:t>
            </a:r>
            <a:r>
              <a:rPr dirty="0" sz="2700" spc="-25"/>
              <a:t> </a:t>
            </a:r>
            <a:r>
              <a:rPr dirty="0" sz="2700">
                <a:solidFill>
                  <a:srgbClr val="DBDBDB"/>
                </a:solidFill>
              </a:rPr>
              <a:t>cúu</a:t>
            </a:r>
            <a:r>
              <a:rPr dirty="0" sz="2700" spc="-95">
                <a:solidFill>
                  <a:srgbClr val="DBDBDB"/>
                </a:solidFill>
              </a:rPr>
              <a:t> </a:t>
            </a:r>
            <a:r>
              <a:rPr dirty="0" sz="2700">
                <a:solidFill>
                  <a:srgbClr val="DFDFDF"/>
                </a:solidFill>
              </a:rPr>
              <a:t>thông</a:t>
            </a:r>
            <a:r>
              <a:rPr dirty="0" sz="2700" spc="-30">
                <a:solidFill>
                  <a:srgbClr val="DFDFDF"/>
                </a:solidFill>
              </a:rPr>
              <a:t> </a:t>
            </a:r>
            <a:r>
              <a:rPr dirty="0" sz="2700"/>
              <a:t>tin</a:t>
            </a:r>
            <a:r>
              <a:rPr dirty="0" sz="2700" spc="-120"/>
              <a:t> </a:t>
            </a:r>
            <a:r>
              <a:rPr dirty="0" sz="2700">
                <a:solidFill>
                  <a:srgbClr val="E4E4E4"/>
                </a:solidFill>
              </a:rPr>
              <a:t>túc</a:t>
            </a:r>
            <a:r>
              <a:rPr dirty="0" sz="2700" spc="-60">
                <a:solidFill>
                  <a:srgbClr val="E4E4E4"/>
                </a:solidFill>
              </a:rPr>
              <a:t> </a:t>
            </a:r>
            <a:r>
              <a:rPr dirty="0" sz="2700"/>
              <a:t>thõi</a:t>
            </a:r>
            <a:r>
              <a:rPr dirty="0" sz="2700" spc="-40"/>
              <a:t> </a:t>
            </a:r>
            <a:r>
              <a:rPr dirty="0" sz="2700" spc="-35"/>
              <a:t>và </a:t>
            </a:r>
            <a:r>
              <a:rPr dirty="0" sz="2700" spc="-10">
                <a:solidFill>
                  <a:srgbClr val="DDDDDD"/>
                </a:solidFill>
              </a:rPr>
              <a:t>chính</a:t>
            </a:r>
            <a:r>
              <a:rPr dirty="0" sz="2700" spc="15">
                <a:solidFill>
                  <a:srgbClr val="DDDDDD"/>
                </a:solidFill>
              </a:rPr>
              <a:t> </a:t>
            </a:r>
            <a:r>
              <a:rPr dirty="0" sz="2700" spc="-25"/>
              <a:t>xác</a:t>
            </a:r>
            <a:r>
              <a:rPr dirty="0" sz="2700" spc="-80"/>
              <a:t> </a:t>
            </a:r>
            <a:r>
              <a:rPr dirty="0" sz="2700">
                <a:solidFill>
                  <a:srgbClr val="DBDBDB"/>
                </a:solidFill>
              </a:rPr>
              <a:t>mot </a:t>
            </a:r>
            <a:r>
              <a:rPr dirty="0" sz="2700" spc="-10">
                <a:solidFill>
                  <a:srgbClr val="DBDBDB"/>
                </a:solidFill>
              </a:rPr>
              <a:t>khách</a:t>
            </a:r>
            <a:r>
              <a:rPr dirty="0" sz="2700" spc="60">
                <a:solidFill>
                  <a:srgbClr val="DBDBDB"/>
                </a:solidFill>
              </a:rPr>
              <a:t> </a:t>
            </a:r>
            <a:r>
              <a:rPr dirty="0" sz="2700" spc="-40">
                <a:solidFill>
                  <a:srgbClr val="E6E6E6"/>
                </a:solidFill>
              </a:rPr>
              <a:t>san</a:t>
            </a:r>
            <a:r>
              <a:rPr dirty="0" sz="2700" spc="-70">
                <a:solidFill>
                  <a:srgbClr val="E6E6E6"/>
                </a:solidFill>
              </a:rPr>
              <a:t> </a:t>
            </a:r>
            <a:r>
              <a:rPr dirty="0" sz="2700"/>
              <a:t>dita</a:t>
            </a:r>
            <a:r>
              <a:rPr dirty="0" sz="2700" spc="-35"/>
              <a:t> </a:t>
            </a:r>
            <a:r>
              <a:rPr dirty="0" sz="2700">
                <a:solidFill>
                  <a:srgbClr val="DFDFDF"/>
                </a:solidFill>
              </a:rPr>
              <a:t>trên</a:t>
            </a:r>
            <a:r>
              <a:rPr dirty="0" sz="2700" spc="-80">
                <a:solidFill>
                  <a:srgbClr val="DFDFDF"/>
                </a:solidFill>
              </a:rPr>
              <a:t> </a:t>
            </a:r>
            <a:r>
              <a:rPr dirty="0" sz="2700" spc="-25">
                <a:solidFill>
                  <a:srgbClr val="E6E6E6"/>
                </a:solidFill>
              </a:rPr>
              <a:t>khóa</a:t>
            </a:r>
            <a:r>
              <a:rPr dirty="0" sz="2700" spc="25">
                <a:solidFill>
                  <a:srgbClr val="E6E6E6"/>
                </a:solidFill>
              </a:rPr>
              <a:t> </a:t>
            </a:r>
            <a:r>
              <a:rPr dirty="0" sz="2700" spc="-30">
                <a:solidFill>
                  <a:srgbClr val="DBDBDB"/>
                </a:solidFill>
              </a:rPr>
              <a:t>chính</a:t>
            </a:r>
            <a:r>
              <a:rPr dirty="0" sz="2700" spc="-114">
                <a:solidFill>
                  <a:srgbClr val="DBDBDB"/>
                </a:solidFill>
              </a:rPr>
              <a:t> </a:t>
            </a:r>
            <a:r>
              <a:rPr dirty="0" sz="2700" spc="-35">
                <a:solidFill>
                  <a:srgbClr val="E6E6E6"/>
                </a:solidFill>
              </a:rPr>
              <a:t>Ià</a:t>
            </a:r>
            <a:r>
              <a:rPr dirty="0" sz="2700" spc="5">
                <a:solidFill>
                  <a:srgbClr val="E6E6E6"/>
                </a:solidFill>
              </a:rPr>
              <a:t> </a:t>
            </a:r>
            <a:r>
              <a:rPr dirty="0" sz="2700" spc="-25">
                <a:solidFill>
                  <a:srgbClr val="DBDBDB"/>
                </a:solidFill>
              </a:rPr>
              <a:t>Má</a:t>
            </a:r>
            <a:r>
              <a:rPr dirty="0" sz="2700">
                <a:solidFill>
                  <a:srgbClr val="DBDBDB"/>
                </a:solidFill>
              </a:rPr>
              <a:t>	</a:t>
            </a:r>
            <a:r>
              <a:rPr dirty="0" baseline="-6172" sz="4050">
                <a:solidFill>
                  <a:srgbClr val="E1E1E1"/>
                </a:solidFill>
              </a:rPr>
              <a:t>!</a:t>
            </a:r>
            <a:r>
              <a:rPr dirty="0" baseline="4115" sz="4050">
                <a:solidFill>
                  <a:srgbClr val="E1E1E1"/>
                </a:solidFill>
              </a:rPr>
              <a:t>nh</a:t>
            </a:r>
            <a:r>
              <a:rPr dirty="0" baseline="4115" sz="4050" spc="-172">
                <a:solidFill>
                  <a:srgbClr val="E1E1E1"/>
                </a:solidFill>
              </a:rPr>
              <a:t> </a:t>
            </a:r>
            <a:r>
              <a:rPr dirty="0" sz="2700" spc="-95">
                <a:solidFill>
                  <a:srgbClr val="DBDBDB"/>
                </a:solidFill>
              </a:rPr>
              <a:t>danh </a:t>
            </a:r>
            <a:r>
              <a:rPr dirty="0" sz="2700">
                <a:solidFill>
                  <a:srgbClr val="DFDFDF"/>
                </a:solidFill>
              </a:rPr>
              <a:t>duy</a:t>
            </a:r>
            <a:r>
              <a:rPr dirty="0" sz="2700" spc="-70">
                <a:solidFill>
                  <a:srgbClr val="DFDFDF"/>
                </a:solidFill>
              </a:rPr>
              <a:t> </a:t>
            </a:r>
            <a:r>
              <a:rPr dirty="0" sz="2700" spc="-10">
                <a:solidFill>
                  <a:srgbClr val="E6E6E6"/>
                </a:solidFill>
              </a:rPr>
              <a:t>nhat.</a:t>
            </a:r>
            <a:endParaRPr sz="2700"/>
          </a:p>
        </p:txBody>
      </p:sp>
      <p:grpSp>
        <p:nvGrpSpPr>
          <p:cNvPr id="11" name="object 11" descr=""/>
          <p:cNvGrpSpPr/>
          <p:nvPr/>
        </p:nvGrpSpPr>
        <p:grpSpPr>
          <a:xfrm>
            <a:off x="15706" y="9282439"/>
            <a:ext cx="20088860" cy="110489"/>
            <a:chOff x="15706" y="9282439"/>
            <a:chExt cx="20088860" cy="110489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9282439"/>
              <a:ext cx="20088393" cy="10994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9282439"/>
              <a:ext cx="20088393" cy="109944"/>
            </a:xfrm>
            <a:prstGeom prst="rect">
              <a:avLst/>
            </a:prstGeom>
          </p:spPr>
        </p:pic>
      </p:grpSp>
      <p:sp>
        <p:nvSpPr>
          <p:cNvPr id="14" name="object 14" descr=""/>
          <p:cNvSpPr/>
          <p:nvPr/>
        </p:nvSpPr>
        <p:spPr>
          <a:xfrm>
            <a:off x="15706" y="9706510"/>
            <a:ext cx="20080605" cy="447675"/>
          </a:xfrm>
          <a:custGeom>
            <a:avLst/>
            <a:gdLst/>
            <a:ahLst/>
            <a:cxnLst/>
            <a:rect l="l" t="t" r="r" b="b"/>
            <a:pathLst>
              <a:path w="20080605" h="447675">
                <a:moveTo>
                  <a:pt x="20080541" y="447630"/>
                </a:moveTo>
                <a:lnTo>
                  <a:pt x="0" y="44763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47630"/>
                </a:lnTo>
                <a:close/>
              </a:path>
            </a:pathLst>
          </a:custGeom>
          <a:solidFill>
            <a:srgbClr val="0307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127913" y="9765143"/>
            <a:ext cx="4318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745">
                <a:solidFill>
                  <a:srgbClr val="3BBAF9"/>
                </a:solidFill>
                <a:latin typeface="Arial MT"/>
                <a:cs typeface="Arial MT"/>
              </a:rPr>
              <a:t>I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504551" y="9655199"/>
            <a:ext cx="645033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114">
                <a:solidFill>
                  <a:srgbClr val="FFFFFF"/>
                </a:solidFill>
                <a:latin typeface="Arial MT"/>
                <a:cs typeface="Arial MT"/>
              </a:rPr>
              <a:t>Tìm</a:t>
            </a:r>
            <a:r>
              <a:rPr dirty="0" sz="2950" spc="-3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105">
                <a:solidFill>
                  <a:srgbClr val="FFFFFF"/>
                </a:solidFill>
                <a:latin typeface="Arial MT"/>
                <a:cs typeface="Arial MT"/>
              </a:rPr>
              <a:t>kiém</a:t>
            </a:r>
            <a:r>
              <a:rPr dirty="0" sz="2950" spc="-3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twcrng</a:t>
            </a:r>
            <a:r>
              <a:rPr dirty="0" sz="295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125">
                <a:solidFill>
                  <a:srgbClr val="FFFFFF"/>
                </a:solidFill>
                <a:latin typeface="Arial MT"/>
                <a:cs typeface="Arial MT"/>
              </a:rPr>
              <a:t>dôi</a:t>
            </a:r>
            <a:r>
              <a:rPr dirty="0" sz="2950" spc="-2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85">
                <a:solidFill>
                  <a:srgbClr val="FFFFFF"/>
                </a:solidFill>
                <a:latin typeface="Arial MT"/>
                <a:cs typeface="Arial MT"/>
              </a:rPr>
              <a:t>(Relative</a:t>
            </a:r>
            <a:r>
              <a:rPr dirty="0" sz="29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145">
                <a:solidFill>
                  <a:srgbClr val="FFFFFF"/>
                </a:solidFill>
                <a:latin typeface="Arial MT"/>
                <a:cs typeface="Arial MT"/>
              </a:rPr>
              <a:t>Match)</a:t>
            </a:r>
            <a:endParaRPr sz="295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5706" y="10303350"/>
            <a:ext cx="20080605" cy="487045"/>
            <a:chOff x="15706" y="10303350"/>
            <a:chExt cx="20080605" cy="487045"/>
          </a:xfrm>
        </p:grpSpPr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98885" y="10303350"/>
              <a:ext cx="62825" cy="4868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5706" y="10303350"/>
              <a:ext cx="20080605" cy="479425"/>
            </a:xfrm>
            <a:custGeom>
              <a:avLst/>
              <a:gdLst/>
              <a:ahLst/>
              <a:cxnLst/>
              <a:rect l="l" t="t" r="r" b="b"/>
              <a:pathLst>
                <a:path w="20080605" h="479425">
                  <a:moveTo>
                    <a:pt x="20080541" y="479043"/>
                  </a:moveTo>
                  <a:lnTo>
                    <a:pt x="0" y="479043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79043"/>
                  </a:lnTo>
                  <a:close/>
                </a:path>
              </a:pathLst>
            </a:custGeom>
            <a:solidFill>
              <a:srgbClr val="0305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510727" y="10348241"/>
            <a:ext cx="7007859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45844" algn="l"/>
              </a:tabLst>
            </a:pPr>
            <a:r>
              <a:rPr dirty="0" sz="2550" spc="-350">
                <a:solidFill>
                  <a:srgbClr val="D8D8D8"/>
                </a:solidFill>
                <a:latin typeface="Arial MT"/>
                <a:cs typeface="Arial MT"/>
              </a:rPr>
              <a:t>HÖ</a:t>
            </a:r>
            <a:r>
              <a:rPr dirty="0" sz="2550" spc="18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E4E4E4"/>
                </a:solidFill>
                <a:latin typeface="Arial MT"/>
                <a:cs typeface="Arial MT"/>
              </a:rPr>
              <a:t>trd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tra</a:t>
            </a:r>
            <a:r>
              <a:rPr dirty="0" sz="2550" spc="22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BDBDB"/>
                </a:solidFill>
                <a:latin typeface="Arial MT"/>
                <a:cs typeface="Arial MT"/>
              </a:rPr>
              <a:t>cúu</a:t>
            </a:r>
            <a:r>
              <a:rPr dirty="0" sz="2550" spc="16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DDDDDD"/>
                </a:solidFill>
                <a:latin typeface="Arial MT"/>
                <a:cs typeface="Arial MT"/>
              </a:rPr>
              <a:t>mò</a:t>
            </a:r>
            <a:r>
              <a:rPr dirty="0" sz="2550" spc="1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 spc="-254">
                <a:solidFill>
                  <a:srgbClr val="DDDDDD"/>
                </a:solidFill>
                <a:latin typeface="Arial MT"/>
                <a:cs typeface="Arial MT"/>
              </a:rPr>
              <a:t>rğng</a:t>
            </a:r>
            <a:r>
              <a:rPr dirty="0" sz="2550" spc="26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theo</a:t>
            </a:r>
            <a:r>
              <a:rPr dirty="0" sz="2550" spc="23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cum</a:t>
            </a:r>
            <a:r>
              <a:rPr dirty="0" sz="2550" spc="28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tù</a:t>
            </a:r>
            <a:r>
              <a:rPr dirty="0" sz="2550" spc="28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khóa</a:t>
            </a:r>
            <a:r>
              <a:rPr dirty="0" sz="2550" spc="38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DFDFDF"/>
                </a:solidFill>
                <a:latin typeface="Arial MT"/>
                <a:cs typeface="Arial MT"/>
              </a:rPr>
              <a:t>(Tên,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835809" y="10348241"/>
            <a:ext cx="588010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-5446" sz="3825">
                <a:solidFill>
                  <a:srgbClr val="E4E4E4"/>
                </a:solidFill>
                <a:latin typeface="Arial MT"/>
                <a:cs typeface="Arial MT"/>
              </a:rPr>
              <a:t>!</a:t>
            </a:r>
            <a:r>
              <a:rPr dirty="0" baseline="5446" sz="3825">
                <a:solidFill>
                  <a:srgbClr val="E4E4E4"/>
                </a:solidFill>
                <a:latin typeface="Arial MT"/>
                <a:cs typeface="Arial MT"/>
              </a:rPr>
              <a:t>ã</a:t>
            </a:r>
            <a:r>
              <a:rPr dirty="0" baseline="5446" sz="3825" spc="-24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 spc="-75">
                <a:solidFill>
                  <a:srgbClr val="DFDFDF"/>
                </a:solidFill>
                <a:latin typeface="Arial MT"/>
                <a:cs typeface="Arial MT"/>
              </a:rPr>
              <a:t>Chi</a:t>
            </a:r>
            <a:r>
              <a:rPr dirty="0" sz="2550" spc="13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6E6E6"/>
                </a:solidFill>
                <a:latin typeface="Arial MT"/>
                <a:cs typeface="Arial MT"/>
              </a:rPr>
              <a:t>khu</a:t>
            </a:r>
            <a:r>
              <a:rPr dirty="0" sz="2550" spc="17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8E8E8"/>
                </a:solidFill>
                <a:latin typeface="Arial MT"/>
                <a:cs typeface="Arial MT"/>
              </a:rPr>
              <a:t>vüc)</a:t>
            </a:r>
            <a:r>
              <a:rPr dirty="0" sz="2550" spc="28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2E2E2"/>
                </a:solidFill>
                <a:latin typeface="Arial MT"/>
                <a:cs typeface="Arial MT"/>
              </a:rPr>
              <a:t>hoac</a:t>
            </a:r>
            <a:r>
              <a:rPr dirty="0" sz="2550" spc="17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FDFDF"/>
                </a:solidFill>
                <a:latin typeface="Arial MT"/>
                <a:cs typeface="Arial MT"/>
              </a:rPr>
              <a:t>loc</a:t>
            </a:r>
            <a:r>
              <a:rPr dirty="0" sz="2550" spc="11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4E4E4"/>
                </a:solidFill>
                <a:latin typeface="Arial MT"/>
                <a:cs typeface="Arial MT"/>
              </a:rPr>
              <a:t>khách</a:t>
            </a:r>
            <a:r>
              <a:rPr dirty="0" sz="2550" spc="27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1E1E1"/>
                </a:solidFill>
                <a:latin typeface="Arial MT"/>
                <a:cs typeface="Arial MT"/>
              </a:rPr>
              <a:t>san</a:t>
            </a:r>
            <a:r>
              <a:rPr dirty="0" sz="2550" spc="14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DDDDDD"/>
                </a:solidFill>
                <a:latin typeface="Arial MT"/>
                <a:cs typeface="Arial MT"/>
              </a:rPr>
              <a:t>nam</a:t>
            </a:r>
            <a:endParaRPr sz="2550">
              <a:latin typeface="Arial MT"/>
              <a:cs typeface="Arial MT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5706" y="10884485"/>
            <a:ext cx="20080605" cy="408940"/>
            <a:chOff x="15706" y="10884485"/>
            <a:chExt cx="20080605" cy="408940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8885" y="10884485"/>
              <a:ext cx="62825" cy="40836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5706" y="10884485"/>
              <a:ext cx="20080605" cy="400685"/>
            </a:xfrm>
            <a:custGeom>
              <a:avLst/>
              <a:gdLst/>
              <a:ahLst/>
              <a:cxnLst/>
              <a:rect l="l" t="t" r="r" b="b"/>
              <a:pathLst>
                <a:path w="20080605" h="400684">
                  <a:moveTo>
                    <a:pt x="20080541" y="400511"/>
                  </a:moveTo>
                  <a:lnTo>
                    <a:pt x="0" y="40051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00511"/>
                  </a:lnTo>
                  <a:close/>
                </a:path>
              </a:pathLst>
            </a:custGeom>
            <a:solidFill>
              <a:srgbClr val="D4D4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507618" y="10850843"/>
            <a:ext cx="544576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65">
                <a:solidFill>
                  <a:srgbClr val="DBDBDB"/>
                </a:solidFill>
                <a:latin typeface="Arial MT"/>
                <a:cs typeface="Arial MT"/>
              </a:rPr>
              <a:t>trong</a:t>
            </a:r>
            <a:r>
              <a:rPr dirty="0" sz="2550" spc="14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 spc="-365">
                <a:solidFill>
                  <a:srgbClr val="E8E8E8"/>
                </a:solidFill>
                <a:latin typeface="Arial MT"/>
                <a:cs typeface="Arial MT"/>
              </a:rPr>
              <a:t>mğt</a:t>
            </a:r>
            <a:r>
              <a:rPr dirty="0" sz="2550" spc="26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DDDDD"/>
                </a:solidFill>
                <a:latin typeface="Arial MT"/>
                <a:cs typeface="Arial MT"/>
              </a:rPr>
              <a:t>Khoáng</a:t>
            </a:r>
            <a:r>
              <a:rPr dirty="0" sz="2550" spc="28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DBDBDB"/>
                </a:solidFill>
                <a:latin typeface="Arial MT"/>
                <a:cs typeface="Arial MT"/>
              </a:rPr>
              <a:t>doanh</a:t>
            </a:r>
            <a:r>
              <a:rPr dirty="0" sz="2550" spc="19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550" spc="65">
                <a:solidFill>
                  <a:srgbClr val="E4E4E4"/>
                </a:solidFill>
                <a:latin typeface="Arial MT"/>
                <a:cs typeface="Arial MT"/>
              </a:rPr>
              <a:t>thu</a:t>
            </a:r>
            <a:r>
              <a:rPr dirty="0" sz="2550" spc="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9E9E9"/>
                </a:solidFill>
                <a:latin typeface="Arial MT"/>
                <a:cs typeface="Arial MT"/>
              </a:rPr>
              <a:t>cu</a:t>
            </a:r>
            <a:r>
              <a:rPr dirty="0" sz="2550" spc="8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E4E4E4"/>
                </a:solidFill>
                <a:latin typeface="Arial MT"/>
                <a:cs typeface="Arial MT"/>
              </a:rPr>
              <a:t>the.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251210"/>
            <a:ext cx="20088393" cy="375381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1068030"/>
            <a:ext cx="20080605" cy="824865"/>
          </a:xfrm>
          <a:custGeom>
            <a:avLst/>
            <a:gdLst/>
            <a:ahLst/>
            <a:cxnLst/>
            <a:rect l="l" t="t" r="r" b="b"/>
            <a:pathLst>
              <a:path w="20080605" h="824864">
                <a:moveTo>
                  <a:pt x="20080541" y="824582"/>
                </a:moveTo>
                <a:lnTo>
                  <a:pt x="0" y="82458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24582"/>
                </a:lnTo>
                <a:close/>
              </a:path>
            </a:pathLst>
          </a:custGeom>
          <a:solidFill>
            <a:srgbClr val="070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5216" y="906774"/>
            <a:ext cx="6710680" cy="9486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50" spc="-340"/>
              <a:t>ThÖng</a:t>
            </a:r>
            <a:r>
              <a:rPr dirty="0" sz="6050" spc="-160"/>
              <a:t> </a:t>
            </a:r>
            <a:r>
              <a:rPr dirty="0" sz="6050" spc="60"/>
              <a:t>kê</a:t>
            </a:r>
            <a:r>
              <a:rPr dirty="0" sz="6050" spc="-450"/>
              <a:t> </a:t>
            </a:r>
            <a:r>
              <a:rPr dirty="0" sz="6050" spc="320"/>
              <a:t>&amp;</a:t>
            </a:r>
            <a:r>
              <a:rPr dirty="0" sz="6050" spc="-420"/>
              <a:t> </a:t>
            </a:r>
            <a:r>
              <a:rPr dirty="0" sz="6050" spc="-295"/>
              <a:t>Sap</a:t>
            </a:r>
            <a:r>
              <a:rPr dirty="0" sz="6050" spc="-225"/>
              <a:t> </a:t>
            </a:r>
            <a:r>
              <a:rPr dirty="0" sz="6050" spc="-25"/>
              <a:t>xép</a:t>
            </a:r>
            <a:endParaRPr sz="6050"/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5706" y="7554743"/>
          <a:ext cx="20156805" cy="1875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03084"/>
                <a:gridCol w="6314440"/>
                <a:gridCol w="6861809"/>
              </a:tblGrid>
              <a:tr h="478790">
                <a:tc>
                  <a:txBody>
                    <a:bodyPr/>
                    <a:lstStyle/>
                    <a:p>
                      <a:pPr algn="ctr" marL="580390">
                        <a:lnSpc>
                          <a:spcPts val="3425"/>
                        </a:lnSpc>
                        <a:tabLst>
                          <a:tab pos="3158490" algn="l"/>
                        </a:tabLst>
                      </a:pPr>
                      <a:r>
                        <a:rPr dirty="0" sz="3200" spc="18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Tinh</a:t>
                      </a:r>
                      <a:r>
                        <a:rPr dirty="0" sz="3200" spc="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 spc="2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toón</a:t>
                      </a:r>
                      <a:r>
                        <a:rPr dirty="0" sz="3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200" spc="2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</a:t>
                      </a:r>
                      <a:r>
                        <a:rPr dirty="0" sz="3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200" spc="20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só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3404"/>
                        </a:lnSpc>
                      </a:pPr>
                      <a:r>
                        <a:rPr dirty="0" sz="3100" spc="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Thuât</a:t>
                      </a:r>
                      <a:r>
                        <a:rPr dirty="0" sz="3100" spc="2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2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toón</a:t>
                      </a:r>
                      <a:r>
                        <a:rPr dirty="0" sz="3100" spc="1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29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Sap</a:t>
                      </a:r>
                      <a:r>
                        <a:rPr dirty="0" sz="31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100" spc="28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xép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71195">
                        <a:lnSpc>
                          <a:spcPts val="3404"/>
                        </a:lnSpc>
                      </a:pPr>
                      <a:r>
                        <a:rPr dirty="0" sz="3100" spc="1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Bóo</a:t>
                      </a:r>
                      <a:r>
                        <a:rPr dirty="0" sz="3100" spc="-7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1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cóo</a:t>
                      </a:r>
                      <a:r>
                        <a:rPr dirty="0" sz="3100" spc="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1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Digm</a:t>
                      </a:r>
                      <a:r>
                        <a:rPr dirty="0" sz="3100" spc="-8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100" spc="1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nghén</a:t>
                      </a:r>
                      <a:endParaRPr sz="3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21945">
                <a:tc>
                  <a:txBody>
                    <a:bodyPr/>
                    <a:lstStyle/>
                    <a:p>
                      <a:pPr algn="r" marR="704215">
                        <a:lnSpc>
                          <a:spcPts val="2325"/>
                        </a:lnSpc>
                      </a:pPr>
                      <a:r>
                        <a:rPr dirty="0" sz="205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Ho</a:t>
                      </a:r>
                      <a:r>
                        <a:rPr dirty="0" sz="2050" spc="9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65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trq</a:t>
                      </a:r>
                      <a:r>
                        <a:rPr dirty="0" sz="2050" spc="5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dem</a:t>
                      </a:r>
                      <a:r>
                        <a:rPr dirty="0" sz="2050" spc="2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tô</a:t>
                      </a:r>
                      <a:r>
                        <a:rPr dirty="0" sz="2050" spc="-39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ng</a:t>
                      </a:r>
                      <a:r>
                        <a:rPr dirty="0" sz="2050" spc="145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so</a:t>
                      </a:r>
                      <a:r>
                        <a:rPr dirty="0" sz="2050" spc="14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Ikong</a:t>
                      </a:r>
                      <a:r>
                        <a:rPr dirty="0" sz="2050" spc="1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FEFEF"/>
                          </a:solidFill>
                          <a:latin typeface="Arial MT"/>
                          <a:cs typeface="Arial MT"/>
                        </a:rPr>
                        <a:t>khách</a:t>
                      </a:r>
                      <a:r>
                        <a:rPr dirty="0" sz="2050" spc="120">
                          <a:solidFill>
                            <a:srgbClr val="EFEFE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san</a:t>
                      </a:r>
                      <a:r>
                        <a:rPr dirty="0" sz="2050" spc="2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trên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6830">
                        <a:lnSpc>
                          <a:spcPts val="2325"/>
                        </a:lnSpc>
                      </a:pPr>
                      <a:r>
                        <a:rPr dirty="0" sz="20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Thuc</a:t>
                      </a:r>
                      <a:r>
                        <a:rPr dirty="0" sz="2050" spc="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thi</a:t>
                      </a:r>
                      <a:r>
                        <a:rPr dirty="0" sz="2050" spc="1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sap</a:t>
                      </a:r>
                      <a:r>
                        <a:rPr dirty="0" sz="2050" spc="13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xep</a:t>
                      </a:r>
                      <a:r>
                        <a:rPr dirty="0" sz="2050" spc="7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danh</a:t>
                      </a:r>
                      <a:r>
                        <a:rPr dirty="0" sz="2050" spc="55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sách</a:t>
                      </a:r>
                      <a:r>
                        <a:rPr dirty="0" sz="2050" spc="75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Tãng</a:t>
                      </a:r>
                      <a:r>
                        <a:rPr dirty="0" sz="2050" spc="12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dan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72465">
                        <a:lnSpc>
                          <a:spcPts val="2325"/>
                        </a:lnSpc>
                      </a:pP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Kháo</a:t>
                      </a:r>
                      <a:r>
                        <a:rPr dirty="0" sz="2050" spc="8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sát</a:t>
                      </a:r>
                      <a:r>
                        <a:rPr dirty="0" sz="2050" spc="3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vã</a:t>
                      </a:r>
                      <a:r>
                        <a:rPr dirty="0" sz="2050" spc="-95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li</a:t>
                      </a:r>
                      <a:r>
                        <a:rPr dirty="0" sz="2050" spc="-16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2050" spc="25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ra</a:t>
                      </a:r>
                      <a:r>
                        <a:rPr dirty="0" sz="2050" spc="65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nhanh</a:t>
                      </a:r>
                      <a:r>
                        <a:rPr dirty="0" sz="2050" spc="10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chóng</a:t>
                      </a:r>
                      <a:r>
                        <a:rPr dirty="0" sz="2050" spc="12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5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các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</a:tr>
              <a:tr h="77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0200">
                <a:tc>
                  <a:txBody>
                    <a:bodyPr/>
                    <a:lstStyle/>
                    <a:p>
                      <a:pPr algn="r" marR="646430">
                        <a:lnSpc>
                          <a:spcPts val="2325"/>
                        </a:lnSpc>
                      </a:pPr>
                      <a:r>
                        <a:rPr dirty="0" sz="20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he</a:t>
                      </a:r>
                      <a:r>
                        <a:rPr dirty="0" sz="2050" spc="-4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ADADA"/>
                          </a:solidFill>
                          <a:latin typeface="Arial MT"/>
                          <a:cs typeface="Arial MT"/>
                        </a:rPr>
                        <a:t>thong</a:t>
                      </a:r>
                      <a:r>
                        <a:rPr dirty="0" sz="2050" spc="160">
                          <a:solidFill>
                            <a:srgbClr val="DADAD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ADADA"/>
                          </a:solidFill>
                          <a:latin typeface="Arial MT"/>
                          <a:cs typeface="Arial MT"/>
                        </a:rPr>
                        <a:t>và</a:t>
                      </a:r>
                      <a:r>
                        <a:rPr dirty="0" sz="2050" spc="90">
                          <a:solidFill>
                            <a:srgbClr val="DADAD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tinh</a:t>
                      </a:r>
                      <a:r>
                        <a:rPr dirty="0" sz="2050" spc="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toãn</a:t>
                      </a:r>
                      <a:r>
                        <a:rPr dirty="0" sz="2050" spc="10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binh</a:t>
                      </a:r>
                      <a:r>
                        <a:rPr dirty="0" sz="2050" spc="8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quân</a:t>
                      </a:r>
                      <a:r>
                        <a:rPr dirty="0" sz="2050" spc="105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doanh</a:t>
                      </a:r>
                      <a:r>
                        <a:rPr dirty="0" sz="2050" spc="3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thu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0">
                        <a:lnSpc>
                          <a:spcPts val="2355"/>
                        </a:lnSpc>
                      </a:pPr>
                      <a:r>
                        <a:rPr dirty="0" sz="2200" spc="-2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theo</a:t>
                      </a:r>
                      <a:r>
                        <a:rPr dirty="0" sz="2200" spc="-12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6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So</a:t>
                      </a:r>
                      <a:r>
                        <a:rPr dirty="0" sz="2200" spc="-9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4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sao,</a:t>
                      </a:r>
                      <a:r>
                        <a:rPr dirty="0" sz="2200" spc="-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5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hoac</a:t>
                      </a:r>
                      <a:r>
                        <a:rPr dirty="0" sz="2200" spc="-1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9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Giám</a:t>
                      </a:r>
                      <a:r>
                        <a:rPr dirty="0" sz="2200" spc="-6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9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dan</a:t>
                      </a:r>
                      <a:r>
                        <a:rPr dirty="0" sz="2200" spc="-65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theo</a:t>
                      </a:r>
                      <a:r>
                        <a:rPr dirty="0" sz="2200" spc="-6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múc</a:t>
                      </a:r>
                      <a:r>
                        <a:rPr dirty="0" sz="220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2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do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54050">
                        <a:lnSpc>
                          <a:spcPts val="2325"/>
                        </a:lnSpc>
                      </a:pPr>
                      <a:r>
                        <a:rPr dirty="0" sz="20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khách</a:t>
                      </a:r>
                      <a:r>
                        <a:rPr dirty="0" sz="2050" spc="125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san</a:t>
                      </a:r>
                      <a:r>
                        <a:rPr dirty="0" sz="2050" spc="12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dang</a:t>
                      </a:r>
                      <a:r>
                        <a:rPr dirty="0" sz="2050" spc="20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có</a:t>
                      </a:r>
                      <a:r>
                        <a:rPr dirty="0" sz="2050" spc="14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doanh</a:t>
                      </a:r>
                      <a:r>
                        <a:rPr dirty="0" sz="2050" spc="5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thu</a:t>
                      </a:r>
                      <a:r>
                        <a:rPr dirty="0" sz="2050" spc="-12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Binh</a:t>
                      </a:r>
                      <a:r>
                        <a:rPr dirty="0" sz="2050" spc="9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di</a:t>
                      </a:r>
                      <a:r>
                        <a:rPr dirty="0" sz="2050" spc="-2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em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</a:tr>
              <a:tr h="62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98450">
                <a:tc>
                  <a:txBody>
                    <a:bodyPr/>
                    <a:lstStyle/>
                    <a:p>
                      <a:pPr algn="ctr" marL="594995">
                        <a:lnSpc>
                          <a:spcPts val="2190"/>
                        </a:lnSpc>
                      </a:pPr>
                      <a:r>
                        <a:rPr dirty="0" sz="2200" spc="-8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cùa</a:t>
                      </a:r>
                      <a:r>
                        <a:rPr dirty="0" sz="2200" spc="-7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1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toàn</a:t>
                      </a:r>
                      <a:r>
                        <a:rPr dirty="0" sz="2200" spc="-10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1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chuöi.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9530">
                        <a:lnSpc>
                          <a:spcPts val="2190"/>
                        </a:lnSpc>
                      </a:pPr>
                      <a:r>
                        <a:rPr dirty="0" sz="2200" spc="-10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Doanh</a:t>
                      </a:r>
                      <a:r>
                        <a:rPr dirty="0" sz="2200" spc="-3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4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thu</a:t>
                      </a:r>
                      <a:r>
                        <a:rPr dirty="0" sz="2200" spc="-10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-4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thu</a:t>
                      </a:r>
                      <a:r>
                        <a:rPr dirty="0" sz="2200" spc="-8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00" spc="14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lilac.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50875">
                        <a:lnSpc>
                          <a:spcPts val="2190"/>
                        </a:lnSpc>
                      </a:pPr>
                      <a:r>
                        <a:rPr dirty="0" sz="20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(Max)</a:t>
                      </a:r>
                      <a:r>
                        <a:rPr dirty="0" sz="2050" spc="16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hoac</a:t>
                      </a:r>
                      <a:r>
                        <a:rPr dirty="0" sz="2050" spc="12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Thap</a:t>
                      </a:r>
                      <a:r>
                        <a:rPr dirty="0" sz="2050" spc="4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nhat</a:t>
                      </a:r>
                      <a:r>
                        <a:rPr dirty="0" sz="2050" spc="5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(Min).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343785">
              <a:lnSpc>
                <a:spcPct val="100000"/>
              </a:lnSpc>
              <a:spcBef>
                <a:spcPts val="105"/>
              </a:spcBef>
            </a:pPr>
            <a:r>
              <a:rPr dirty="0" sz="10300">
                <a:latin typeface="Cambria"/>
                <a:cs typeface="Cambria"/>
              </a:rPr>
              <a:t>3.</a:t>
            </a:r>
            <a:r>
              <a:rPr dirty="0" sz="10300" spc="-150">
                <a:latin typeface="Cambria"/>
                <a:cs typeface="Cambria"/>
              </a:rPr>
              <a:t> </a:t>
            </a:r>
            <a:r>
              <a:rPr dirty="0" sz="10300" spc="-405">
                <a:latin typeface="Cambria"/>
                <a:cs typeface="Cambria"/>
              </a:rPr>
              <a:t>Yöu</a:t>
            </a:r>
            <a:r>
              <a:rPr dirty="0" sz="10300" spc="165">
                <a:latin typeface="Cambria"/>
                <a:cs typeface="Cambria"/>
              </a:rPr>
              <a:t> </a:t>
            </a:r>
            <a:r>
              <a:rPr dirty="0" sz="10300">
                <a:latin typeface="Cambria"/>
                <a:cs typeface="Cambria"/>
              </a:rPr>
              <a:t>cau</a:t>
            </a:r>
            <a:r>
              <a:rPr dirty="0" sz="10300" spc="330">
                <a:latin typeface="Cambria"/>
                <a:cs typeface="Cambria"/>
              </a:rPr>
              <a:t> </a:t>
            </a:r>
            <a:r>
              <a:rPr dirty="0" sz="10300" spc="-535">
                <a:latin typeface="Cambria"/>
                <a:cs typeface="Cambria"/>
              </a:rPr>
              <a:t>Kÿ</a:t>
            </a:r>
            <a:r>
              <a:rPr dirty="0" sz="10300" spc="195">
                <a:latin typeface="Cambria"/>
                <a:cs typeface="Cambria"/>
              </a:rPr>
              <a:t> </a:t>
            </a:r>
            <a:r>
              <a:rPr dirty="0" sz="10300" spc="-300">
                <a:latin typeface="Cambria"/>
                <a:cs typeface="Cambria"/>
              </a:rPr>
              <a:t>thuÿt</a:t>
            </a:r>
            <a:endParaRPr sz="10300">
              <a:latin typeface="Cambria"/>
              <a:cs typeface="Cambr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5858460"/>
            <a:ext cx="20088860" cy="94615"/>
            <a:chOff x="15706" y="5858460"/>
            <a:chExt cx="20088860" cy="946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5858460"/>
              <a:ext cx="20088393" cy="9423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5858460"/>
              <a:ext cx="20088393" cy="94237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5706" y="6895078"/>
            <a:ext cx="20080605" cy="495300"/>
          </a:xfrm>
          <a:custGeom>
            <a:avLst/>
            <a:gdLst/>
            <a:ahLst/>
            <a:cxnLst/>
            <a:rect l="l" t="t" r="r" b="b"/>
            <a:pathLst>
              <a:path w="20080605" h="495300">
                <a:moveTo>
                  <a:pt x="20080541" y="494749"/>
                </a:moveTo>
                <a:lnTo>
                  <a:pt x="0" y="49474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94749"/>
                </a:lnTo>
                <a:close/>
              </a:path>
            </a:pathLst>
          </a:custGeom>
          <a:solidFill>
            <a:srgbClr val="03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238272" y="6858164"/>
            <a:ext cx="7618730" cy="516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>
                <a:solidFill>
                  <a:srgbClr val="DADADA"/>
                </a:solidFill>
                <a:latin typeface="Arial MT"/>
                <a:cs typeface="Arial MT"/>
              </a:rPr>
              <a:t>Phi</a:t>
            </a:r>
            <a:r>
              <a:rPr dirty="0" sz="3200" spc="11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3200" spc="100">
                <a:solidFill>
                  <a:srgbClr val="E1E1E1"/>
                </a:solidFill>
                <a:latin typeface="Arial MT"/>
                <a:cs typeface="Arial MT"/>
              </a:rPr>
              <a:t>chúc</a:t>
            </a:r>
            <a:r>
              <a:rPr dirty="0" sz="3200" spc="28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2E2E2"/>
                </a:solidFill>
                <a:latin typeface="Arial MT"/>
                <a:cs typeface="Arial MT"/>
              </a:rPr>
              <a:t>nãng,</a:t>
            </a:r>
            <a:r>
              <a:rPr dirty="0" sz="3200" spc="17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200" spc="70">
                <a:solidFill>
                  <a:srgbClr val="E1E1E1"/>
                </a:solidFill>
                <a:latin typeface="Arial MT"/>
                <a:cs typeface="Arial MT"/>
              </a:rPr>
              <a:t>Toi</a:t>
            </a:r>
            <a:r>
              <a:rPr dirty="0" sz="3200" spc="-1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D6D6D6"/>
                </a:solidFill>
                <a:latin typeface="Arial MT"/>
                <a:cs typeface="Arial MT"/>
              </a:rPr>
              <a:t>Eu</a:t>
            </a:r>
            <a:r>
              <a:rPr dirty="0" sz="3200" spc="35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E1E1E1"/>
                </a:solidFill>
                <a:latin typeface="Arial MT"/>
                <a:cs typeface="Arial MT"/>
              </a:rPr>
              <a:t>hóa</a:t>
            </a:r>
            <a:r>
              <a:rPr dirty="0" sz="3200" spc="34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DBDBDB"/>
                </a:solidFill>
                <a:latin typeface="Arial MT"/>
                <a:cs typeface="Arial MT"/>
              </a:rPr>
              <a:t>và</a:t>
            </a:r>
            <a:r>
              <a:rPr dirty="0" sz="3200" spc="254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DDDDDD"/>
                </a:solidFill>
                <a:latin typeface="Arial MT"/>
                <a:cs typeface="Arial MT"/>
              </a:rPr>
              <a:t>Hieu</a:t>
            </a:r>
            <a:r>
              <a:rPr dirty="0" sz="3200" spc="7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E1E1E1"/>
                </a:solidFill>
                <a:latin typeface="Arial MT"/>
                <a:cs typeface="Arial MT"/>
              </a:rPr>
              <a:t>nãng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115149"/>
            <a:ext cx="20080605" cy="777875"/>
          </a:xfrm>
          <a:custGeom>
            <a:avLst/>
            <a:gdLst/>
            <a:ahLst/>
            <a:cxnLst/>
            <a:rect l="l" t="t" r="r" b="b"/>
            <a:pathLst>
              <a:path w="20080605" h="777875">
                <a:moveTo>
                  <a:pt x="20080541" y="777463"/>
                </a:moveTo>
                <a:lnTo>
                  <a:pt x="0" y="77746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77463"/>
                </a:lnTo>
                <a:close/>
              </a:path>
            </a:pathLst>
          </a:custGeom>
          <a:solidFill>
            <a:srgbClr val="070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dirty="0" sz="6150" spc="130">
                <a:latin typeface="Calibri"/>
                <a:cs typeface="Calibri"/>
              </a:rPr>
              <a:t>Tiêu</a:t>
            </a:r>
            <a:r>
              <a:rPr dirty="0" sz="6150" spc="-165">
                <a:latin typeface="Calibri"/>
                <a:cs typeface="Calibri"/>
              </a:rPr>
              <a:t> </a:t>
            </a:r>
            <a:r>
              <a:rPr dirty="0" sz="6150" spc="330">
                <a:latin typeface="Calibri"/>
                <a:cs typeface="Calibri"/>
              </a:rPr>
              <a:t>chuan</a:t>
            </a:r>
            <a:r>
              <a:rPr dirty="0" sz="6150" spc="-204">
                <a:latin typeface="Calibri"/>
                <a:cs typeface="Calibri"/>
              </a:rPr>
              <a:t> </a:t>
            </a:r>
            <a:r>
              <a:rPr dirty="0" sz="6150" spc="325">
                <a:latin typeface="Calibri"/>
                <a:cs typeface="Calibri"/>
              </a:rPr>
              <a:t>KȘ</a:t>
            </a:r>
            <a:r>
              <a:rPr dirty="0" sz="6150" spc="235">
                <a:latin typeface="Calibri"/>
                <a:cs typeface="Calibri"/>
              </a:rPr>
              <a:t> </a:t>
            </a:r>
            <a:r>
              <a:rPr dirty="0" sz="6150" spc="70">
                <a:latin typeface="Calibri"/>
                <a:cs typeface="Calibri"/>
              </a:rPr>
              <a:t>thu§t</a:t>
            </a:r>
            <a:r>
              <a:rPr dirty="0" sz="6150" spc="-330">
                <a:latin typeface="Calibri"/>
                <a:cs typeface="Calibri"/>
              </a:rPr>
              <a:t> </a:t>
            </a:r>
            <a:r>
              <a:rPr dirty="0" sz="6150" spc="225">
                <a:latin typeface="Calibri"/>
                <a:cs typeface="Calibri"/>
              </a:rPr>
              <a:t>Dğt</a:t>
            </a:r>
            <a:r>
              <a:rPr dirty="0" sz="6150" spc="-165">
                <a:latin typeface="Calibri"/>
                <a:cs typeface="Calibri"/>
              </a:rPr>
              <a:t> </a:t>
            </a:r>
            <a:r>
              <a:rPr dirty="0" sz="6150" spc="210">
                <a:latin typeface="Calibri"/>
                <a:cs typeface="Calibri"/>
              </a:rPr>
              <a:t>ro</a:t>
            </a:r>
            <a:endParaRPr sz="615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3722399"/>
            <a:ext cx="20088860" cy="596900"/>
            <a:chOff x="15706" y="3722399"/>
            <a:chExt cx="20088860" cy="5969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65528" y="3722399"/>
              <a:ext cx="4209295" cy="59684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20171" y="3722399"/>
              <a:ext cx="4209295" cy="59684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7640" y="3722399"/>
              <a:ext cx="4209295" cy="59684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3722399"/>
              <a:ext cx="20088393" cy="596840"/>
            </a:xfrm>
            <a:prstGeom prst="rect">
              <a:avLst/>
            </a:prstGeom>
          </p:spPr>
        </p:pic>
      </p:grp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5706" y="4994612"/>
          <a:ext cx="20156805" cy="4116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45934"/>
                <a:gridCol w="6259195"/>
                <a:gridCol w="6975475"/>
              </a:tblGrid>
              <a:tr h="572770">
                <a:tc>
                  <a:txBody>
                    <a:bodyPr/>
                    <a:lstStyle/>
                    <a:p>
                      <a:pPr marL="1564640">
                        <a:lnSpc>
                          <a:spcPts val="4140"/>
                        </a:lnSpc>
                      </a:pPr>
                      <a:r>
                        <a:rPr dirty="0" sz="37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UI/UX</a:t>
                      </a:r>
                      <a:r>
                        <a:rPr dirty="0" sz="3700" spc="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7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3700" spc="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700" spc="-8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Bğ</a:t>
                      </a:r>
                      <a:r>
                        <a:rPr dirty="0" sz="3700" spc="-3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700" spc="-3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nhó</a:t>
                      </a:r>
                      <a:endParaRPr sz="3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A1D"/>
                    </a:solidFill>
                  </a:tcPr>
                </a:tc>
                <a:tc>
                  <a:txBody>
                    <a:bodyPr/>
                    <a:lstStyle/>
                    <a:p>
                      <a:pPr marL="1019175">
                        <a:lnSpc>
                          <a:spcPts val="4170"/>
                        </a:lnSpc>
                      </a:pPr>
                      <a:r>
                        <a:rPr dirty="0" sz="3850" spc="2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Toèn</a:t>
                      </a:r>
                      <a:r>
                        <a:rPr dirty="0" sz="385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850" spc="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vęn</a:t>
                      </a:r>
                      <a:r>
                        <a:rPr dirty="0" sz="385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850" spc="2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DC</a:t>
                      </a:r>
                      <a:r>
                        <a:rPr dirty="0" sz="3850" spc="1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850" spc="114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lieu</a:t>
                      </a:r>
                      <a:endParaRPr sz="38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50A1D"/>
                    </a:solidFill>
                  </a:tcPr>
                </a:tc>
                <a:tc>
                  <a:txBody>
                    <a:bodyPr/>
                    <a:lstStyle/>
                    <a:p>
                      <a:pPr marL="1024890">
                        <a:lnSpc>
                          <a:spcPts val="4120"/>
                        </a:lnSpc>
                      </a:pPr>
                      <a:r>
                        <a:rPr dirty="0" sz="3600" spc="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Hieu</a:t>
                      </a:r>
                      <a:r>
                        <a:rPr dirty="0" sz="360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600" spc="3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nöng</a:t>
                      </a:r>
                      <a:r>
                        <a:rPr dirty="0" sz="36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6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Tôi</a:t>
                      </a:r>
                      <a:r>
                        <a:rPr dirty="0" sz="3600" spc="1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6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wu</a:t>
                      </a:r>
                      <a:endParaRPr sz="3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A1D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00050">
                <a:tc>
                  <a:txBody>
                    <a:bodyPr/>
                    <a:lstStyle/>
                    <a:p>
                      <a:pPr marL="1576705">
                        <a:lnSpc>
                          <a:spcPts val="2920"/>
                        </a:lnSpc>
                      </a:pPr>
                      <a:r>
                        <a:rPr dirty="0" sz="25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Xáy</a:t>
                      </a:r>
                      <a:r>
                        <a:rPr dirty="0" sz="2550" spc="1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3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du'ng</a:t>
                      </a:r>
                      <a:r>
                        <a:rPr dirty="0" sz="2550" spc="10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Menu</a:t>
                      </a:r>
                      <a:r>
                        <a:rPr dirty="0" sz="2550" spc="105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Console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A1C"/>
                    </a:solidFill>
                  </a:tcPr>
                </a:tc>
                <a:tc>
                  <a:txBody>
                    <a:bodyPr/>
                    <a:lstStyle/>
                    <a:p>
                      <a:pPr marL="1014094">
                        <a:lnSpc>
                          <a:spcPts val="2920"/>
                        </a:lnSpc>
                      </a:pPr>
                      <a:r>
                        <a:rPr dirty="0" sz="25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Lap</a:t>
                      </a:r>
                      <a:r>
                        <a:rPr dirty="0" sz="2550" spc="17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trình</a:t>
                      </a:r>
                      <a:r>
                        <a:rPr dirty="0" sz="2550" spc="13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thuat</a:t>
                      </a:r>
                      <a:r>
                        <a:rPr dirty="0" sz="2550" spc="29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toan</a:t>
                      </a:r>
                      <a:r>
                        <a:rPr dirty="0" sz="2550" spc="240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bat</a:t>
                      </a:r>
                      <a:r>
                        <a:rPr dirty="0" sz="2550" spc="200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2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IÖi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A1C"/>
                    </a:solidFill>
                  </a:tcPr>
                </a:tc>
                <a:tc>
                  <a:txBody>
                    <a:bodyPr/>
                    <a:lstStyle/>
                    <a:p>
                      <a:pPr marL="1038225">
                        <a:lnSpc>
                          <a:spcPts val="2900"/>
                        </a:lnSpc>
                      </a:pPr>
                      <a:r>
                        <a:rPr dirty="0" sz="24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Nghiên</a:t>
                      </a:r>
                      <a:r>
                        <a:rPr dirty="0" sz="2450" spc="31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6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cúu</a:t>
                      </a:r>
                      <a:r>
                        <a:rPr dirty="0" sz="2450" spc="30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và</a:t>
                      </a:r>
                      <a:r>
                        <a:rPr dirty="0" sz="2450" spc="27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ap</a:t>
                      </a:r>
                      <a:r>
                        <a:rPr dirty="0" sz="2450" spc="210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6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dung</a:t>
                      </a:r>
                      <a:r>
                        <a:rPr dirty="0" sz="2450" spc="245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cac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A1C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00050">
                <a:tc>
                  <a:txBody>
                    <a:bodyPr/>
                    <a:lstStyle/>
                    <a:p>
                      <a:pPr marL="1575435">
                        <a:lnSpc>
                          <a:spcPts val="2900"/>
                        </a:lnSpc>
                      </a:pPr>
                      <a:r>
                        <a:rPr dirty="0" sz="2450" spc="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dieu</a:t>
                      </a:r>
                      <a:r>
                        <a:rPr dirty="0" sz="2450" spc="2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h</a:t>
                      </a:r>
                      <a:r>
                        <a:rPr dirty="0" sz="24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Oóng</a:t>
                      </a:r>
                      <a:r>
                        <a:rPr dirty="0" sz="2450" spc="2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bang</a:t>
                      </a:r>
                      <a:r>
                        <a:rPr dirty="0" sz="2450" spc="35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4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sÖ</a:t>
                      </a:r>
                      <a:r>
                        <a:rPr dirty="0" sz="2450" spc="240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lieu</a:t>
                      </a:r>
                      <a:r>
                        <a:rPr dirty="0" sz="2450" spc="26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10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trúc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A1A"/>
                    </a:solidFill>
                  </a:tcPr>
                </a:tc>
                <a:tc>
                  <a:txBody>
                    <a:bodyPr/>
                    <a:lstStyle/>
                    <a:p>
                      <a:pPr marL="1005840">
                        <a:lnSpc>
                          <a:spcPts val="2920"/>
                        </a:lnSpc>
                      </a:pPr>
                      <a:r>
                        <a:rPr dirty="0" sz="2550" spc="110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nhap</a:t>
                      </a:r>
                      <a:r>
                        <a:rPr dirty="0" sz="2550" spc="270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70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lieu</a:t>
                      </a:r>
                      <a:r>
                        <a:rPr dirty="0" sz="2550" spc="265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95">
                          <a:solidFill>
                            <a:srgbClr val="E9E9E9"/>
                          </a:solidFill>
                          <a:latin typeface="Calibri"/>
                          <a:cs typeface="Calibri"/>
                        </a:rPr>
                        <a:t>khat</a:t>
                      </a:r>
                      <a:r>
                        <a:rPr dirty="0" sz="2550" spc="260">
                          <a:solidFill>
                            <a:srgbClr val="E9E9E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114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khe:</a:t>
                      </a:r>
                      <a:r>
                        <a:rPr dirty="0" sz="2550" spc="375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15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Tù</a:t>
                      </a:r>
                      <a:r>
                        <a:rPr dirty="0" sz="2550" spc="27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20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chÖi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30A1A"/>
                    </a:solidFill>
                  </a:tcPr>
                </a:tc>
                <a:tc>
                  <a:txBody>
                    <a:bodyPr/>
                    <a:lstStyle/>
                    <a:p>
                      <a:pPr marL="1032510">
                        <a:lnSpc>
                          <a:spcPts val="2920"/>
                        </a:lnSpc>
                      </a:pPr>
                      <a:r>
                        <a:rPr dirty="0" sz="25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thuat</a:t>
                      </a:r>
                      <a:r>
                        <a:rPr dirty="0" sz="2550" spc="18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toan</a:t>
                      </a:r>
                      <a:r>
                        <a:rPr dirty="0" sz="2550" spc="21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Sap</a:t>
                      </a:r>
                      <a:r>
                        <a:rPr dirty="0" sz="2550" spc="195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xep</a:t>
                      </a:r>
                      <a:r>
                        <a:rPr dirty="0" sz="2550" spc="10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2550" spc="9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25">
                          <a:solidFill>
                            <a:srgbClr val="D8D8D8"/>
                          </a:solidFill>
                          <a:latin typeface="Arial MT"/>
                          <a:cs typeface="Arial MT"/>
                        </a:rPr>
                        <a:t>Tìm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0A1A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00050">
                <a:tc>
                  <a:txBody>
                    <a:bodyPr/>
                    <a:lstStyle/>
                    <a:p>
                      <a:pPr marL="1571625">
                        <a:lnSpc>
                          <a:spcPts val="2900"/>
                        </a:lnSpc>
                      </a:pPr>
                      <a:r>
                        <a:rPr dirty="0" sz="2450" spc="140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quan.</a:t>
                      </a:r>
                      <a:r>
                        <a:rPr dirty="0" sz="2450" spc="400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35">
                          <a:solidFill>
                            <a:srgbClr val="E8E8E8"/>
                          </a:solidFill>
                          <a:latin typeface="Calibri"/>
                          <a:cs typeface="Calibri"/>
                        </a:rPr>
                        <a:t>Thiet</a:t>
                      </a:r>
                      <a:r>
                        <a:rPr dirty="0" sz="2450" spc="325">
                          <a:solidFill>
                            <a:srgbClr val="E8E8E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35">
                          <a:solidFill>
                            <a:srgbClr val="DBDBDB"/>
                          </a:solidFill>
                          <a:latin typeface="Calibri"/>
                          <a:cs typeface="Calibri"/>
                        </a:rPr>
                        <a:t>lap</a:t>
                      </a:r>
                      <a:r>
                        <a:rPr dirty="0" sz="2450" spc="195">
                          <a:solidFill>
                            <a:srgbClr val="DBDBD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45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quàn</a:t>
                      </a:r>
                      <a:r>
                        <a:rPr dirty="0" sz="2450" spc="295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00">
                          <a:solidFill>
                            <a:srgbClr val="D8D8D8"/>
                          </a:solidFill>
                          <a:latin typeface="Calibri"/>
                          <a:cs typeface="Calibri"/>
                        </a:rPr>
                        <a:t>Iy</a:t>
                      </a:r>
                      <a:r>
                        <a:rPr dirty="0" sz="2450" spc="265">
                          <a:solidFill>
                            <a:srgbClr val="D8D8D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10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cap</a:t>
                      </a:r>
                      <a:endParaRPr sz="2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marL="1001394">
                        <a:lnSpc>
                          <a:spcPts val="2920"/>
                        </a:lnSpc>
                      </a:pPr>
                      <a:r>
                        <a:rPr dirty="0" sz="2550" spc="7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trúng</a:t>
                      </a:r>
                      <a:r>
                        <a:rPr dirty="0" sz="2550" spc="12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Mã</a:t>
                      </a:r>
                      <a:r>
                        <a:rPr dirty="0" sz="2550" spc="12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khách</a:t>
                      </a:r>
                      <a:r>
                        <a:rPr dirty="0" sz="2550" spc="21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san,</a:t>
                      </a:r>
                      <a:r>
                        <a:rPr dirty="0" sz="2550" spc="17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và</a:t>
                      </a:r>
                      <a:r>
                        <a:rPr dirty="0" sz="2550" spc="114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2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giói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marL="1029335">
                        <a:lnSpc>
                          <a:spcPts val="2920"/>
                        </a:lnSpc>
                      </a:pPr>
                      <a:r>
                        <a:rPr dirty="0" sz="2550" spc="110">
                          <a:solidFill>
                            <a:srgbClr val="D6D6D6"/>
                          </a:solidFill>
                          <a:latin typeface="Calibri"/>
                          <a:cs typeface="Calibri"/>
                        </a:rPr>
                        <a:t>kiem</a:t>
                      </a:r>
                      <a:r>
                        <a:rPr dirty="0" sz="2550" spc="310">
                          <a:solidFill>
                            <a:srgbClr val="D6D6D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114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có</a:t>
                      </a:r>
                      <a:r>
                        <a:rPr dirty="0" sz="2550" spc="335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105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2550" spc="200">
                          <a:solidFill>
                            <a:srgbClr val="E4E4E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160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phúc</a:t>
                      </a:r>
                      <a:r>
                        <a:rPr dirty="0" sz="2550" spc="185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8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tap</a:t>
                      </a:r>
                      <a:r>
                        <a:rPr dirty="0" sz="2550" spc="19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70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thap,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00050">
                <a:tc>
                  <a:txBody>
                    <a:bodyPr/>
                    <a:lstStyle/>
                    <a:p>
                      <a:pPr marL="1573530">
                        <a:lnSpc>
                          <a:spcPts val="2900"/>
                        </a:lnSpc>
                      </a:pPr>
                      <a:r>
                        <a:rPr dirty="0" sz="2450" spc="55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phát</a:t>
                      </a:r>
                      <a:r>
                        <a:rPr dirty="0" sz="2450" spc="275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6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dong</a:t>
                      </a:r>
                      <a:r>
                        <a:rPr dirty="0" sz="2450" spc="22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chat</a:t>
                      </a:r>
                      <a:r>
                        <a:rPr dirty="0" sz="2450" spc="29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75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ché,</a:t>
                      </a:r>
                      <a:r>
                        <a:rPr dirty="0" sz="2450" spc="12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6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th</a:t>
                      </a:r>
                      <a:r>
                        <a:rPr dirty="0" sz="2450" spc="-44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2450" spc="18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25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hÖi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marL="1010285">
                        <a:lnSpc>
                          <a:spcPts val="2900"/>
                        </a:lnSpc>
                      </a:pPr>
                      <a:r>
                        <a:rPr dirty="0" sz="245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han</a:t>
                      </a:r>
                      <a:r>
                        <a:rPr dirty="0" sz="2450" spc="29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24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hap</a:t>
                      </a:r>
                      <a:r>
                        <a:rPr dirty="0" sz="2450" spc="30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-34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SÖ</a:t>
                      </a:r>
                      <a:r>
                        <a:rPr dirty="0" sz="2450" spc="355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sao</a:t>
                      </a:r>
                      <a:r>
                        <a:rPr dirty="0" sz="2450" spc="26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chì</a:t>
                      </a:r>
                      <a:r>
                        <a:rPr dirty="0" sz="2450" spc="195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450" spc="45">
                          <a:solidFill>
                            <a:srgbClr val="E1E1E1"/>
                          </a:solidFill>
                          <a:latin typeface="Arial MT"/>
                          <a:cs typeface="Arial MT"/>
                        </a:rPr>
                        <a:t>düdc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marL="1032510">
                        <a:lnSpc>
                          <a:spcPts val="2920"/>
                        </a:lnSpc>
                      </a:pPr>
                      <a:r>
                        <a:rPr dirty="0" sz="25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phù</a:t>
                      </a:r>
                      <a:r>
                        <a:rPr dirty="0" sz="2550" spc="15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hdp</a:t>
                      </a:r>
                      <a:r>
                        <a:rPr dirty="0" sz="2550" spc="1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nhat</a:t>
                      </a:r>
                      <a:r>
                        <a:rPr dirty="0" sz="2550" spc="365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vói</a:t>
                      </a:r>
                      <a:r>
                        <a:rPr dirty="0" sz="2550" spc="155">
                          <a:solidFill>
                            <a:srgbClr val="E2E2E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dac</a:t>
                      </a:r>
                      <a:r>
                        <a:rPr dirty="0" sz="2550" spc="140">
                          <a:solidFill>
                            <a:srgbClr val="E6E6E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6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thù</a:t>
                      </a:r>
                      <a:r>
                        <a:rPr dirty="0" sz="2550" spc="18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25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cùa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400050">
                <a:tc>
                  <a:txBody>
                    <a:bodyPr/>
                    <a:lstStyle/>
                    <a:p>
                      <a:pPr marL="1581785">
                        <a:lnSpc>
                          <a:spcPts val="2920"/>
                        </a:lnSpc>
                        <a:tabLst>
                          <a:tab pos="4323080" algn="l"/>
                        </a:tabLst>
                      </a:pPr>
                      <a:r>
                        <a:rPr dirty="0" sz="25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vúng</a:t>
                      </a:r>
                      <a:r>
                        <a:rPr dirty="0" sz="2550" spc="229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nhó</a:t>
                      </a:r>
                      <a:r>
                        <a:rPr dirty="0" sz="2550" spc="280">
                          <a:solidFill>
                            <a:srgbClr val="EBEBE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(delete)</a:t>
                      </a:r>
                      <a:r>
                        <a:rPr dirty="0" sz="255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550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2550" spc="145">
                          <a:solidFill>
                            <a:srgbClr val="DDDDD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10">
                          <a:solidFill>
                            <a:srgbClr val="E9E9E9"/>
                          </a:solidFill>
                          <a:latin typeface="Arial MT"/>
                          <a:cs typeface="Arial MT"/>
                        </a:rPr>
                        <a:t>chong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marL="1009015">
                        <a:lnSpc>
                          <a:spcPts val="2920"/>
                        </a:lnSpc>
                      </a:pPr>
                      <a:r>
                        <a:rPr dirty="0" sz="255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phép</a:t>
                      </a:r>
                      <a:r>
                        <a:rPr dirty="0" sz="2550" spc="195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nam</a:t>
                      </a:r>
                      <a:r>
                        <a:rPr dirty="0" sz="2550" spc="254">
                          <a:solidFill>
                            <a:srgbClr val="E4E4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65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trong</a:t>
                      </a:r>
                      <a:r>
                        <a:rPr dirty="0" sz="2550" spc="185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khoàng</a:t>
                      </a:r>
                      <a:r>
                        <a:rPr dirty="0" sz="2550" spc="195">
                          <a:solidFill>
                            <a:srgbClr val="E8E8E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tü</a:t>
                      </a:r>
                      <a:r>
                        <a:rPr dirty="0" sz="2550" spc="135">
                          <a:solidFill>
                            <a:srgbClr val="DFDFD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50" spc="-50">
                          <a:solidFill>
                            <a:srgbClr val="D6D6D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  <a:tc>
                  <a:txBody>
                    <a:bodyPr/>
                    <a:lstStyle/>
                    <a:p>
                      <a:pPr marL="1032510">
                        <a:lnSpc>
                          <a:spcPts val="2900"/>
                        </a:lnSpc>
                        <a:tabLst>
                          <a:tab pos="1653539" algn="l"/>
                        </a:tabLst>
                      </a:pPr>
                      <a:r>
                        <a:rPr dirty="0" sz="2450" spc="-25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cau</a:t>
                      </a:r>
                      <a:r>
                        <a:rPr dirty="0" sz="245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450" spc="16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trúc</a:t>
                      </a:r>
                      <a:r>
                        <a:rPr dirty="0" sz="2450" spc="24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21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dú</a:t>
                      </a:r>
                      <a:r>
                        <a:rPr dirty="0" sz="2450" spc="12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30">
                          <a:solidFill>
                            <a:srgbClr val="E1E1E1"/>
                          </a:solidFill>
                          <a:latin typeface="Calibri"/>
                          <a:cs typeface="Calibri"/>
                        </a:rPr>
                        <a:t>lieu</a:t>
                      </a:r>
                      <a:r>
                        <a:rPr dirty="0" sz="2450" spc="204">
                          <a:solidFill>
                            <a:srgbClr val="E1E1E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8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dã</a:t>
                      </a:r>
                      <a:r>
                        <a:rPr dirty="0" sz="2450" spc="190">
                          <a:solidFill>
                            <a:srgbClr val="E2E2E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200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düdc</a:t>
                      </a:r>
                      <a:r>
                        <a:rPr dirty="0" sz="2450" spc="235">
                          <a:solidFill>
                            <a:srgbClr val="DDDDD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50" spc="10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lia</a:t>
                      </a:r>
                      <a:endParaRPr sz="24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50818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84175">
                <a:tc>
                  <a:txBody>
                    <a:bodyPr/>
                    <a:lstStyle/>
                    <a:p>
                      <a:pPr marL="1569720">
                        <a:lnSpc>
                          <a:spcPts val="2920"/>
                        </a:lnSpc>
                        <a:tabLst>
                          <a:tab pos="3726179" algn="l"/>
                        </a:tabLst>
                      </a:pPr>
                      <a:r>
                        <a:rPr dirty="0" sz="2550" spc="95">
                          <a:solidFill>
                            <a:srgbClr val="D8D8D8"/>
                          </a:solidFill>
                          <a:latin typeface="Calibri"/>
                          <a:cs typeface="Calibri"/>
                        </a:rPr>
                        <a:t>rò</a:t>
                      </a:r>
                      <a:r>
                        <a:rPr dirty="0" sz="2550" spc="170">
                          <a:solidFill>
                            <a:srgbClr val="D8D8D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60">
                          <a:solidFill>
                            <a:srgbClr val="D8D8D8"/>
                          </a:solidFill>
                          <a:latin typeface="Calibri"/>
                          <a:cs typeface="Calibri"/>
                        </a:rPr>
                        <a:t>ri</a:t>
                      </a:r>
                      <a:r>
                        <a:rPr dirty="0" sz="2550" spc="260">
                          <a:solidFill>
                            <a:srgbClr val="D8D8D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80">
                          <a:solidFill>
                            <a:srgbClr val="E8E8E8"/>
                          </a:solidFill>
                          <a:latin typeface="Calibri"/>
                          <a:cs typeface="Calibri"/>
                        </a:rPr>
                        <a:t>(Memory</a:t>
                      </a:r>
                      <a:r>
                        <a:rPr dirty="0" sz="2550">
                          <a:solidFill>
                            <a:srgbClr val="E8E8E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550" spc="120">
                          <a:solidFill>
                            <a:srgbClr val="EBEBEB"/>
                          </a:solidFill>
                          <a:latin typeface="Calibri"/>
                          <a:cs typeface="Calibri"/>
                        </a:rPr>
                        <a:t>Leak).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  <a:tc>
                  <a:txBody>
                    <a:bodyPr/>
                    <a:lstStyle/>
                    <a:p>
                      <a:pPr marL="1004569">
                        <a:lnSpc>
                          <a:spcPts val="2930"/>
                        </a:lnSpc>
                      </a:pPr>
                      <a:r>
                        <a:rPr dirty="0" sz="2700" spc="-70">
                          <a:solidFill>
                            <a:srgbClr val="E2E2E2"/>
                          </a:solidFill>
                          <a:latin typeface="Consolas"/>
                          <a:cs typeface="Consolas"/>
                        </a:rPr>
                        <a:t>den</a:t>
                      </a:r>
                      <a:r>
                        <a:rPr dirty="0" sz="2700" spc="-625">
                          <a:solidFill>
                            <a:srgbClr val="E2E2E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700" spc="-434">
                          <a:solidFill>
                            <a:srgbClr val="E6E6E6"/>
                          </a:solidFill>
                          <a:latin typeface="Consolas"/>
                          <a:cs typeface="Consolas"/>
                        </a:rPr>
                        <a:t>5.</a:t>
                      </a:r>
                      <a:endParaRPr sz="27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  <a:tc>
                  <a:txBody>
                    <a:bodyPr/>
                    <a:lstStyle/>
                    <a:p>
                      <a:pPr marL="1031240">
                        <a:lnSpc>
                          <a:spcPts val="2930"/>
                        </a:lnSpc>
                      </a:pPr>
                      <a:r>
                        <a:rPr dirty="0" sz="2700" spc="6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chon</a:t>
                      </a:r>
                      <a:r>
                        <a:rPr dirty="0" sz="2700" spc="28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ban</a:t>
                      </a:r>
                      <a:r>
                        <a:rPr dirty="0" sz="2700" spc="295">
                          <a:solidFill>
                            <a:srgbClr val="DFDFD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0">
                          <a:solidFill>
                            <a:srgbClr val="E9E9E9"/>
                          </a:solidFill>
                          <a:latin typeface="Calibri"/>
                          <a:cs typeface="Calibri"/>
                        </a:rPr>
                        <a:t>dau.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3071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115149"/>
            <a:ext cx="20080605" cy="715010"/>
          </a:xfrm>
          <a:custGeom>
            <a:avLst/>
            <a:gdLst/>
            <a:ahLst/>
            <a:cxnLst/>
            <a:rect l="l" t="t" r="r" b="b"/>
            <a:pathLst>
              <a:path w="20080605" h="715010">
                <a:moveTo>
                  <a:pt x="20080541" y="714637"/>
                </a:moveTo>
                <a:lnTo>
                  <a:pt x="0" y="71463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14637"/>
                </a:lnTo>
                <a:close/>
              </a:path>
            </a:pathLst>
          </a:custGeom>
          <a:solidFill>
            <a:srgbClr val="070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6300" spc="-730">
                <a:latin typeface="Calibri"/>
                <a:cs typeface="Calibri"/>
              </a:rPr>
              <a:t>Lćș</a:t>
            </a:r>
            <a:r>
              <a:rPr dirty="0" sz="6300" spc="210">
                <a:latin typeface="Calibri"/>
                <a:cs typeface="Calibri"/>
              </a:rPr>
              <a:t> </a:t>
            </a:r>
            <a:r>
              <a:rPr dirty="0" sz="6300" spc="114">
                <a:latin typeface="Calibri"/>
                <a:cs typeface="Calibri"/>
              </a:rPr>
              <a:t>trình</a:t>
            </a:r>
            <a:r>
              <a:rPr dirty="0" sz="6300" spc="-254">
                <a:latin typeface="Calibri"/>
                <a:cs typeface="Calibri"/>
              </a:rPr>
              <a:t> </a:t>
            </a:r>
            <a:r>
              <a:rPr dirty="0" sz="6300" spc="140">
                <a:latin typeface="Calibri"/>
                <a:cs typeface="Calibri"/>
              </a:rPr>
              <a:t>Phót</a:t>
            </a:r>
            <a:r>
              <a:rPr dirty="0" sz="6300" spc="20">
                <a:latin typeface="Calibri"/>
                <a:cs typeface="Calibri"/>
              </a:rPr>
              <a:t> </a:t>
            </a:r>
            <a:r>
              <a:rPr dirty="0" sz="6300" spc="-85">
                <a:latin typeface="Calibri"/>
                <a:cs typeface="Calibri"/>
              </a:rPr>
              <a:t>triÄn</a:t>
            </a:r>
            <a:r>
              <a:rPr dirty="0" sz="6300" spc="-270">
                <a:latin typeface="Calibri"/>
                <a:cs typeface="Calibri"/>
              </a:rPr>
              <a:t> </a:t>
            </a:r>
            <a:r>
              <a:rPr dirty="0" sz="6300" spc="745">
                <a:latin typeface="Calibri"/>
                <a:cs typeface="Calibri"/>
              </a:rPr>
              <a:t>D¿ón</a:t>
            </a:r>
            <a:endParaRPr sz="63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3392566"/>
            <a:ext cx="20088860" cy="361315"/>
            <a:chOff x="15706" y="3392566"/>
            <a:chExt cx="20088860" cy="36131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3721" y="3400420"/>
              <a:ext cx="1908318" cy="32983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91132" y="3400420"/>
              <a:ext cx="1939731" cy="32983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3392566"/>
              <a:ext cx="20088393" cy="361245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5706" y="409935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50A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137706" y="4068328"/>
            <a:ext cx="314960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Lap</a:t>
            </a:r>
            <a:r>
              <a:rPr dirty="0" sz="2050" spc="9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6E6E6"/>
                </a:solidFill>
                <a:latin typeface="Arial MT"/>
                <a:cs typeface="Arial MT"/>
              </a:rPr>
              <a:t>trinh</a:t>
            </a:r>
            <a:r>
              <a:rPr dirty="0" sz="2050" spc="1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1E1E1"/>
                </a:solidFill>
                <a:latin typeface="Arial MT"/>
                <a:cs typeface="Arial MT"/>
              </a:rPr>
              <a:t>Core</a:t>
            </a:r>
            <a:r>
              <a:rPr dirty="0" sz="2050" spc="16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(Chúc</a:t>
            </a:r>
            <a:r>
              <a:rPr dirty="0" sz="2050" spc="27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E4E4E4"/>
                </a:solidFill>
                <a:latin typeface="Arial MT"/>
                <a:cs typeface="Arial MT"/>
              </a:rPr>
              <a:t>nãng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479921" y="4051967"/>
            <a:ext cx="317754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200" spc="-95">
                <a:solidFill>
                  <a:srgbClr val="DFDFDF"/>
                </a:solidFill>
                <a:latin typeface="Arial MT"/>
                <a:cs typeface="Arial MT"/>
              </a:rPr>
              <a:t>Testing</a:t>
            </a:r>
            <a:r>
              <a:rPr dirty="0" sz="2200" spc="-5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200" spc="-265">
                <a:solidFill>
                  <a:srgbClr val="DBDBDB"/>
                </a:solidFill>
                <a:latin typeface="Arial MT"/>
                <a:cs typeface="Arial MT"/>
              </a:rPr>
              <a:t>&amp;</a:t>
            </a:r>
            <a:r>
              <a:rPr dirty="0" sz="2200" spc="7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ADADA"/>
                </a:solidFill>
                <a:latin typeface="Arial MT"/>
                <a:cs typeface="Arial MT"/>
              </a:rPr>
              <a:t>Toi</a:t>
            </a:r>
            <a:r>
              <a:rPr dirty="0" sz="2200" spc="-7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E4E4E4"/>
                </a:solidFill>
                <a:latin typeface="Arial MT"/>
                <a:cs typeface="Arial MT"/>
              </a:rPr>
              <a:t>ou</a:t>
            </a:r>
            <a:r>
              <a:rPr dirty="0" sz="2200" spc="-12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DBDBDB"/>
                </a:solidFill>
                <a:latin typeface="Arial MT"/>
                <a:cs typeface="Arial MT"/>
              </a:rPr>
              <a:t>hóa</a:t>
            </a:r>
            <a:r>
              <a:rPr dirty="0" sz="2200" spc="6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DBDBDB"/>
                </a:solidFill>
                <a:latin typeface="Arial MT"/>
                <a:cs typeface="Arial MT"/>
              </a:rPr>
              <a:t>(Thiet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5706" y="4492009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50A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395957" y="4477346"/>
            <a:ext cx="263969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CRUD</a:t>
            </a:r>
            <a:r>
              <a:rPr dirty="0" sz="1900" spc="31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95">
                <a:solidFill>
                  <a:srgbClr val="DBDBDB"/>
                </a:solidFill>
                <a:latin typeface="Arial MT"/>
                <a:cs typeface="Arial MT"/>
              </a:rPr>
              <a:t>co</a:t>
            </a:r>
            <a:r>
              <a:rPr dirty="0" sz="1900" spc="21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 spc="-195">
                <a:solidFill>
                  <a:srgbClr val="DDDDDD"/>
                </a:solidFill>
                <a:latin typeface="Arial MT"/>
                <a:cs typeface="Arial MT"/>
              </a:rPr>
              <a:t>băn</a:t>
            </a:r>
            <a:r>
              <a:rPr dirty="0" sz="1900" spc="21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DDDDD"/>
                </a:solidFill>
                <a:latin typeface="Arial MT"/>
                <a:cs typeface="Arial MT"/>
              </a:rPr>
              <a:t>và</a:t>
            </a:r>
            <a:r>
              <a:rPr dirty="0" sz="1900" spc="26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xù</a:t>
            </a:r>
            <a:r>
              <a:rPr dirty="0" sz="1900" spc="22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DBDBDB"/>
                </a:solidFill>
                <a:latin typeface="Arial MT"/>
                <a:cs typeface="Arial MT"/>
              </a:rPr>
              <a:t>Iÿ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420849" y="4444625"/>
            <a:ext cx="3291204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E6E6E6"/>
                </a:solidFill>
                <a:latin typeface="Arial MT"/>
                <a:cs typeface="Arial MT"/>
              </a:rPr>
              <a:t>ke</a:t>
            </a:r>
            <a:r>
              <a:rPr dirty="0" sz="2200" spc="-15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DFDFDF"/>
                </a:solidFill>
                <a:latin typeface="Arial MT"/>
                <a:cs typeface="Arial MT"/>
              </a:rPr>
              <a:t>UI</a:t>
            </a:r>
            <a:r>
              <a:rPr dirty="0" sz="2200" spc="-7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D1D1D1"/>
                </a:solidFill>
                <a:latin typeface="Arial MT"/>
                <a:cs typeface="Arial MT"/>
              </a:rPr>
              <a:t>C</a:t>
            </a:r>
            <a:r>
              <a:rPr dirty="0" sz="2200" spc="-55">
                <a:solidFill>
                  <a:srgbClr val="E8E8E8"/>
                </a:solidFill>
                <a:latin typeface="Arial MT"/>
                <a:cs typeface="Arial MT"/>
              </a:rPr>
              <a:t>onsole,</a:t>
            </a:r>
            <a:r>
              <a:rPr dirty="0" sz="2200" spc="25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E2E2E2"/>
                </a:solidFill>
                <a:latin typeface="Arial MT"/>
                <a:cs typeface="Arial MT"/>
              </a:rPr>
              <a:t>bat</a:t>
            </a:r>
            <a:r>
              <a:rPr dirty="0" sz="2200" spc="-10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DDDDD"/>
                </a:solidFill>
                <a:latin typeface="Arial MT"/>
                <a:cs typeface="Arial MT"/>
              </a:rPr>
              <a:t>Iöi</a:t>
            </a:r>
            <a:r>
              <a:rPr dirty="0" sz="2200" spc="-9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DDDDDD"/>
                </a:solidFill>
                <a:latin typeface="Arial MT"/>
                <a:cs typeface="Arial MT"/>
              </a:rPr>
              <a:t>ngoai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706" y="4900374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50A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651168" y="4869350"/>
            <a:ext cx="208153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45">
                <a:solidFill>
                  <a:srgbClr val="E4E4E4"/>
                </a:solidFill>
                <a:latin typeface="Arial MT"/>
                <a:cs typeface="Arial MT"/>
              </a:rPr>
              <a:t>Boc/Ghi</a:t>
            </a:r>
            <a:r>
              <a:rPr dirty="0" sz="2050" spc="10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File</a:t>
            </a:r>
            <a:r>
              <a:rPr dirty="0" sz="2050" spc="1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E6E6E6"/>
                </a:solidFill>
                <a:latin typeface="Arial MT"/>
                <a:cs typeface="Arial MT"/>
              </a:rPr>
              <a:t>I/O).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464849" y="4869350"/>
            <a:ext cx="319341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le,</a:t>
            </a:r>
            <a:r>
              <a:rPr dirty="0" sz="2050" spc="18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kiêm</a:t>
            </a:r>
            <a:r>
              <a:rPr dirty="0" sz="2050" spc="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tra</a:t>
            </a:r>
            <a:r>
              <a:rPr dirty="0" sz="2050" spc="13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Memory</a:t>
            </a:r>
            <a:r>
              <a:rPr dirty="0" sz="2050" spc="2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E2E2E2"/>
                </a:solidFill>
                <a:latin typeface="Arial MT"/>
                <a:cs typeface="Arial MT"/>
              </a:rPr>
              <a:t>Leak).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5706" y="6219706"/>
            <a:ext cx="20088860" cy="534035"/>
            <a:chOff x="15706" y="6219706"/>
            <a:chExt cx="20088860" cy="534035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90065" y="6219706"/>
              <a:ext cx="3314035" cy="53401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9578" y="6219706"/>
              <a:ext cx="4209295" cy="53401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9093" y="6219706"/>
              <a:ext cx="4209295" cy="53401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8607" y="6219706"/>
              <a:ext cx="4209295" cy="53401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06" y="6219706"/>
              <a:ext cx="20088393" cy="534015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15706" y="7539037"/>
            <a:ext cx="20088860" cy="361315"/>
            <a:chOff x="15706" y="7539037"/>
            <a:chExt cx="20088860" cy="361315"/>
          </a:xfrm>
        </p:grpSpPr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87088" y="7539037"/>
              <a:ext cx="4209295" cy="361245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8941" y="7539037"/>
              <a:ext cx="4209295" cy="36124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06" y="7539037"/>
              <a:ext cx="20088393" cy="361245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15706" y="8245822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5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448344" y="8214798"/>
            <a:ext cx="317436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 spc="-50">
                <a:solidFill>
                  <a:srgbClr val="E2E2E2"/>
                </a:solidFill>
                <a:latin typeface="Arial MT"/>
                <a:cs typeface="Arial MT"/>
              </a:rPr>
              <a:t>Phân</a:t>
            </a:r>
            <a:r>
              <a:rPr dirty="0" sz="2050" spc="1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tích,</a:t>
            </a:r>
            <a:r>
              <a:rPr dirty="0" sz="2050" spc="7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1E1E1"/>
                </a:solidFill>
                <a:latin typeface="Arial MT"/>
                <a:cs typeface="Arial MT"/>
              </a:rPr>
              <a:t>thiet</a:t>
            </a:r>
            <a:r>
              <a:rPr dirty="0" sz="2050" spc="7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ke</a:t>
            </a:r>
            <a:r>
              <a:rPr dirty="0" sz="2050" spc="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6E6E6"/>
                </a:solidFill>
                <a:latin typeface="Arial MT"/>
                <a:cs typeface="Arial MT"/>
              </a:rPr>
              <a:t>Cau</a:t>
            </a:r>
            <a:r>
              <a:rPr dirty="0" sz="2050" spc="-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E2E2E2"/>
                </a:solidFill>
                <a:latin typeface="Arial MT"/>
                <a:cs typeface="Arial MT"/>
              </a:rPr>
              <a:t>trúc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773394" y="8214798"/>
            <a:ext cx="324421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Xây</a:t>
            </a:r>
            <a:r>
              <a:rPr dirty="0" sz="2050" spc="9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d</a:t>
            </a:r>
            <a:r>
              <a:rPr dirty="0" sz="2050">
                <a:solidFill>
                  <a:srgbClr val="E4E4E4"/>
                </a:solidFill>
                <a:latin typeface="Arial MT"/>
                <a:cs typeface="Arial MT"/>
              </a:rPr>
              <a:t>Eng</a:t>
            </a:r>
            <a:r>
              <a:rPr dirty="0" sz="2050" spc="9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Ng</a:t>
            </a: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hiep</a:t>
            </a:r>
            <a:r>
              <a:rPr dirty="0" sz="2050" spc="10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vu</a:t>
            </a:r>
            <a:r>
              <a:rPr dirty="0" sz="2050" spc="3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DDDDDD"/>
                </a:solidFill>
                <a:latin typeface="Arial MT"/>
                <a:cs typeface="Arial MT"/>
              </a:rPr>
              <a:t>(Thuat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5706" y="8638480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307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428179" y="8607456"/>
            <a:ext cx="321818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CCE1F6"/>
                </a:solidFill>
                <a:latin typeface="Arial MT"/>
                <a:cs typeface="Arial MT"/>
              </a:rPr>
              <a:t>d</a:t>
            </a:r>
            <a:r>
              <a:rPr dirty="0" sz="2050">
                <a:solidFill>
                  <a:srgbClr val="938580"/>
                </a:solidFill>
                <a:latin typeface="Arial MT"/>
                <a:cs typeface="Arial MT"/>
              </a:rPr>
              <a:t>ú</a:t>
            </a:r>
            <a:r>
              <a:rPr dirty="0" sz="2050" spc="105">
                <a:solidFill>
                  <a:srgbClr val="938580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lieu</a:t>
            </a:r>
            <a:r>
              <a:rPr dirty="0" sz="2050" spc="114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(Binh</a:t>
            </a:r>
            <a:r>
              <a:rPr dirty="0" sz="2050" spc="114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ng</a:t>
            </a:r>
            <a:r>
              <a:rPr dirty="0" sz="2050">
                <a:solidFill>
                  <a:srgbClr val="E4E4E4"/>
                </a:solidFill>
                <a:latin typeface="Arial MT"/>
                <a:cs typeface="Arial MT"/>
              </a:rPr>
              <a:t>hia</a:t>
            </a:r>
            <a:r>
              <a:rPr dirty="0" sz="2050" spc="14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DDDDDD"/>
                </a:solidFill>
                <a:latin typeface="Arial MT"/>
                <a:cs typeface="Arial MT"/>
              </a:rPr>
              <a:t>E</a:t>
            </a:r>
            <a:r>
              <a:rPr dirty="0" sz="2050" spc="-10">
                <a:solidFill>
                  <a:srgbClr val="E2E2E2"/>
                </a:solidFill>
                <a:latin typeface="Arial MT"/>
                <a:cs typeface="Arial MT"/>
              </a:rPr>
              <a:t>ntities,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801351" y="8607456"/>
            <a:ext cx="318008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toan</a:t>
            </a:r>
            <a:r>
              <a:rPr dirty="0" sz="2050" spc="10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Ti</a:t>
            </a:r>
            <a:r>
              <a:rPr dirty="0" sz="2050">
                <a:solidFill>
                  <a:srgbClr val="D6D6D6"/>
                </a:solidFill>
                <a:latin typeface="Arial MT"/>
                <a:cs typeface="Arial MT"/>
              </a:rPr>
              <a:t>m</a:t>
            </a:r>
            <a:r>
              <a:rPr dirty="0" sz="2050" spc="5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6E6E6"/>
                </a:solidFill>
                <a:latin typeface="Arial MT"/>
                <a:cs typeface="Arial MT"/>
              </a:rPr>
              <a:t>kiëm,</a:t>
            </a:r>
            <a:r>
              <a:rPr dirty="0" sz="2050" spc="14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Sap</a:t>
            </a:r>
            <a:r>
              <a:rPr dirty="0" sz="2050" spc="17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xëp</a:t>
            </a:r>
            <a:r>
              <a:rPr dirty="0" sz="2050" spc="9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D6D6D6"/>
                </a:solidFill>
                <a:latin typeface="Arial MT"/>
                <a:cs typeface="Arial MT"/>
              </a:rPr>
              <a:t>và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15706" y="9078257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307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2062908" y="8999459"/>
            <a:ext cx="192151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35">
                <a:solidFill>
                  <a:srgbClr val="DBDBDB"/>
                </a:solidFill>
                <a:latin typeface="Arial MT"/>
                <a:cs typeface="Arial MT"/>
              </a:rPr>
              <a:t>Node,</a:t>
            </a:r>
            <a:r>
              <a:rPr dirty="0" sz="2200" spc="-5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E6E6E6"/>
                </a:solidFill>
                <a:latin typeface="Arial MT"/>
                <a:cs typeface="Arial MT"/>
              </a:rPr>
              <a:t>Pointers).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1215902" y="9015821"/>
            <a:ext cx="234188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báo</a:t>
            </a:r>
            <a:r>
              <a:rPr dirty="0" sz="2050" spc="12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8D8D8"/>
                </a:solidFill>
                <a:latin typeface="Arial MT"/>
                <a:cs typeface="Arial MT"/>
              </a:rPr>
              <a:t>cáo</a:t>
            </a:r>
            <a:r>
              <a:rPr dirty="0" sz="2050" spc="15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Thöng</a:t>
            </a:r>
            <a:r>
              <a:rPr dirty="0" sz="2050" spc="21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E2E2E2"/>
                </a:solidFill>
                <a:latin typeface="Arial MT"/>
                <a:cs typeface="Arial MT"/>
              </a:rPr>
              <a:t>kë).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4334946"/>
            <a:ext cx="20088393" cy="120938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6455300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5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308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486218" y="6417078"/>
            <a:ext cx="1112393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>
                <a:solidFill>
                  <a:srgbClr val="EBEBEB"/>
                </a:solidFill>
                <a:latin typeface="Arial MT"/>
                <a:cs typeface="Arial MT"/>
              </a:rPr>
              <a:t>Ban</a:t>
            </a:r>
            <a:r>
              <a:rPr dirty="0" sz="3450" spc="25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3450" spc="140">
                <a:solidFill>
                  <a:srgbClr val="D6D6D6"/>
                </a:solidFill>
                <a:latin typeface="Arial MT"/>
                <a:cs typeface="Arial MT"/>
              </a:rPr>
              <a:t>có</a:t>
            </a:r>
            <a:r>
              <a:rPr dirty="0" sz="3450" spc="18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3450" spc="105">
                <a:solidFill>
                  <a:srgbClr val="E4E4E4"/>
                </a:solidFill>
                <a:latin typeface="Arial MT"/>
                <a:cs typeface="Arial MT"/>
              </a:rPr>
              <a:t>câu</a:t>
            </a:r>
            <a:r>
              <a:rPr dirty="0" sz="3450" spc="16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3450" spc="130">
                <a:solidFill>
                  <a:srgbClr val="DFDFDF"/>
                </a:solidFill>
                <a:latin typeface="Arial MT"/>
                <a:cs typeface="Arial MT"/>
              </a:rPr>
              <a:t>hôi</a:t>
            </a:r>
            <a:r>
              <a:rPr dirty="0" sz="3450" spc="8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450" spc="90">
                <a:solidFill>
                  <a:srgbClr val="DDDDDD"/>
                </a:solidFill>
                <a:latin typeface="Arial MT"/>
                <a:cs typeface="Arial MT"/>
              </a:rPr>
              <a:t>nào</a:t>
            </a:r>
            <a:r>
              <a:rPr dirty="0" sz="3450" spc="24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3450" spc="85">
                <a:solidFill>
                  <a:srgbClr val="E6E6E6"/>
                </a:solidFill>
                <a:latin typeface="Arial MT"/>
                <a:cs typeface="Arial MT"/>
              </a:rPr>
              <a:t>ve</a:t>
            </a:r>
            <a:r>
              <a:rPr dirty="0" sz="3450" spc="10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3450" spc="75">
                <a:solidFill>
                  <a:srgbClr val="E2E2E2"/>
                </a:solidFill>
                <a:latin typeface="Arial MT"/>
                <a:cs typeface="Arial MT"/>
              </a:rPr>
              <a:t>kien</a:t>
            </a:r>
            <a:r>
              <a:rPr dirty="0" sz="3450" spc="17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3450" spc="125">
                <a:solidFill>
                  <a:srgbClr val="DFDFDF"/>
                </a:solidFill>
                <a:latin typeface="Arial MT"/>
                <a:cs typeface="Arial MT"/>
              </a:rPr>
              <a:t>trúc</a:t>
            </a:r>
            <a:r>
              <a:rPr dirty="0" sz="3450" spc="34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450">
                <a:solidFill>
                  <a:srgbClr val="DFDFDF"/>
                </a:solidFill>
                <a:latin typeface="Arial MT"/>
                <a:cs typeface="Arial MT"/>
              </a:rPr>
              <a:t>và</a:t>
            </a:r>
            <a:r>
              <a:rPr dirty="0" sz="3450" spc="26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450" spc="100">
                <a:solidFill>
                  <a:srgbClr val="DFDFDF"/>
                </a:solidFill>
                <a:latin typeface="Arial MT"/>
                <a:cs typeface="Arial MT"/>
              </a:rPr>
              <a:t>thuat</a:t>
            </a:r>
            <a:r>
              <a:rPr dirty="0" sz="3450" spc="2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450" spc="95">
                <a:solidFill>
                  <a:srgbClr val="DFDFDF"/>
                </a:solidFill>
                <a:latin typeface="Arial MT"/>
                <a:cs typeface="Arial MT"/>
              </a:rPr>
              <a:t>toán</a:t>
            </a:r>
            <a:r>
              <a:rPr dirty="0" sz="3450" spc="2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3450" spc="75">
                <a:solidFill>
                  <a:srgbClr val="E2E2E2"/>
                </a:solidFill>
                <a:latin typeface="Arial MT"/>
                <a:cs typeface="Arial MT"/>
              </a:rPr>
              <a:t>không?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pc="225"/>
              <a:t>Image</a:t>
            </a:r>
            <a:r>
              <a:rPr dirty="0" spc="-175"/>
              <a:t> </a:t>
            </a:r>
            <a:r>
              <a:rPr dirty="0" spc="-10"/>
              <a:t>Sources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706" y="3848050"/>
            <a:ext cx="20088860" cy="157480"/>
            <a:chOff x="15706" y="3848050"/>
            <a:chExt cx="20088860" cy="1574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3848050"/>
              <a:ext cx="20088393" cy="15706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3848050"/>
              <a:ext cx="20088393" cy="1570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2026-04-15T05:35:20Z</dcterms:created>
  <dcterms:modified xsi:type="dcterms:W3CDTF">2026-04-15T05:35:20Z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LastSaved">
    <vt:filetime>2026-04-15T00:00:00Z</vt:filetime>
  </property>
</Properties>
</file>